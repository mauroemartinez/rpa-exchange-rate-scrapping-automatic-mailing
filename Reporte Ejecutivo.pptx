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brecha entre el Blue de $1555.0 y el MEP de $1536.04 cerró en 1.23%, siendo la opción más económica de las dos el MEP. En la tendencia de las últimas 25 ruedas, el Blue avanzó un 0.97% y el Billete un 0.33%, mientras que el Riesgo País acumuló un incremento de 132 puntos básicos.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agregados monetarios miden cuánta plata hay en la economía. La circulación monetaria son los billetes y monedas; la base monetaria es el dinero que crea el Banco Central: esos billetes y monedas más lo que los bancos tienen depositado en él. El M2 suma los billetes en manos de la gente y lo que hay en cuentas corrientes y cajas de ahorro, y el M3 agrega los plazos fijos. Arriba se ve cuánto hay, en billones de pesos. Abajo, cuánto creció cada uno en un año comparado con la inflación (la línea roja): si una línea queda por debajo de la roja, esa plata alcanza para comprar menos cosas que hace un año.</a:t>
            </a:r>
          </a:p>
          <a:p/>
          <a:p>
            <a:r>
              <a:t>¿Qué sería lo ideal? Que la cantidad de pesos crezca al ritmo de los que la gente quiere tener: más o menos lo que crece la economía más una inflación baja. Si crece mucho más rápido, hay más pesos persiguiendo las mismas cosas y eso suele anticipar más inflación y un dólar más caro. Si crece mucho más lento, la inflación tiende a bajar, pero hay menos plata para consumir y menos crédito, y la actividad se enfría.</a:t>
            </a:r>
          </a:p>
          <a:p/>
          <a:p>
            <a:r>
              <a:t>En el último año la base monetaria creció 16,4% (al 13/10/2026) y el M2 creció 18,0% (al 09/10/2026), contra una inflación interanual de 33,3% en septiembre de 2026: descontada la inflación, las dos cayeron.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está en dólares: lo que se publica en pesos se convierte con el tipo de cambio oficial mayorista de cada día.</a:t>
            </a:r>
          </a:p>
          <a:p/>
          <a:p>
            <a:r>
              <a:t>Arriba, la deuda bruta del Tesoro nacional: lo que debe el Estado por bonos, letras y préstamos de organismos como el FMI. Te importa porque se paga con impuestos o con más deuda: cuanto más pesa, menos margen hay para bajar impuestos y más caro le sale al país (y a sus empresas) conseguir crédito, algo que se ve en el riesgo país. Se publica una vez por mes, con unas cinco semanas de atraso, y los últimos meses son provisorios (los círculos grises): pueden corregirse.</a:t>
            </a:r>
          </a:p>
          <a:p/>
          <a:p>
            <a:r>
              <a:t>En el medio, lo que familias y empresas les deben a los bancos: tarjetas, préstamos personales, hipotecas y créditos a empresas. Si sube, hay más crédito para consumir, comprar una casa o invertir; si sube demasiado rápido, crece el riesgo de que mucha gente no pueda pagar.</a:t>
            </a:r>
          </a:p>
          <a:p/>
          <a:p>
            <a:r>
              <a:t>Abajo, dos deudas que pasan por el Banco Central. Las letras en pesos son la forma en que el BCRA retira pesos de la calle pagando un interés (las en dólares son deuda en esa moneda). Te importa porque esos intereses se pagan con pesos nuevos: si el stock crece mucho, es inflación a futuro; y la tasa que pagan influye en lo que te dan por un plazo fijo. Los adelantos transitorios son pesos que el BCRA emite y le presta al Tesoro: es financiar al Estado con emisión, y cuanto más se usa ese atajo, más presión hay sobre los precios y el dólar.</a:t>
            </a:r>
          </a:p>
          <a:p/>
          <a:p>
            <a:r>
              <a:t>¿Qué sería lo ideal? Que la deuda del Estado crezca más despacio que la economía (o baje), que el crédito a familias y empresas crezca de forma sostenida, y que los adelantos al Tesoro no aumenten.</a:t>
            </a:r>
          </a:p>
          <a:p/>
          <a:p>
            <a:r>
              <a:t>Deuda bruta del Tesoro a fines de septiembre de 2026 (dato provisorio): USD 486,6 mil millones, 32,6 mil millones más que un año antes. Contra la misma fecha: hace 4 años, USD 382,3 mil millones (hoy, +27,3%). Sin comparación a 8 y 12 años: la serie mensual de la Secretaría de Finanzas empieza en 2019.</a:t>
            </a:r>
          </a:p>
          <a:p>
            <a:r>
              <a:t>Lo que familias y empresas les deben a los bancos, al 13/10/2026: USD 96,8 mil millones. Contra la misma fecha: hace 4 años, USD 43,1 mil millones (hoy, +124,7%); hace 8 años, USD 58,9 mil millones (hoy, +64,5%); hace 12 años, USD 65,9 mil millones (hoy, +46,9%). Con cepo, el dólar oficial estaba muy por debajo del paralelo, así que en dólares esos años se ven más altos de lo que eran.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globalaize.com" TargetMode="External"/><Relationship Id="rId4" Type="http://schemas.openxmlformats.org/officeDocument/2006/relationships/image" Target="../media/image2.png"/><Relationship Id="rId5" Type="http://schemas.openxmlformats.org/officeDocument/2006/relationships/hyperlink" Target="https://linkedin.com/in/mauroemartinez/" TargetMode="External"/><Relationship Id="rId6" Type="http://schemas.openxmlformats.org/officeDocument/2006/relationships/image" Target="../media/image3.png"/><Relationship Id="rId7" Type="http://schemas.openxmlformats.org/officeDocument/2006/relationships/hyperlink" Target="https://github.com/mauroemartinez/" TargetMode="External"/><Relationship Id="rId8" Type="http://schemas.openxmlformats.org/officeDocument/2006/relationships/hyperlink" Target="https://www.linkedin.com/company/globalaize" TargetMode="External"/><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6.png"/><Relationship Id="rId12" Type="http://schemas.openxmlformats.org/officeDocument/2006/relationships/image" Target="../media/image7.png"/><Relationship Id="rId13" Type="http://schemas.openxmlformats.org/officeDocument/2006/relationships/image" Target="../media/image8.png"/><Relationship Id="rId14" Type="http://schemas.openxmlformats.org/officeDocument/2006/relationships/image" Target="../media/image9.png"/><Relationship Id="rId15" Type="http://schemas.openxmlformats.org/officeDocument/2006/relationships/image" Target="../media/image10.png"/><Relationship Id="rId16" Type="http://schemas.openxmlformats.org/officeDocument/2006/relationships/image" Target="../media/image11.png"/><Relationship Id="rId17" Type="http://schemas.openxmlformats.org/officeDocument/2006/relationships/image" Target="../media/image12.png"/><Relationship Id="rId18" Type="http://schemas.openxmlformats.org/officeDocument/2006/relationships/image" Target="../media/image13.png"/><Relationship Id="rId19" Type="http://schemas.openxmlformats.org/officeDocument/2006/relationships/image" Target="../media/image14.png"/><Relationship Id="rId20" Type="http://schemas.openxmlformats.org/officeDocument/2006/relationships/image" Target="../media/image15.png"/><Relationship Id="rId21" Type="http://schemas.openxmlformats.org/officeDocument/2006/relationships/image" Target="../media/image16.png"/><Relationship Id="rId22" Type="http://schemas.openxmlformats.org/officeDocument/2006/relationships/image" Target="../media/image17.png"/><Relationship Id="rId2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na.com.ar/Personas" TargetMode="External"/><Relationship Id="rId3" Type="http://schemas.openxmlformats.org/officeDocument/2006/relationships/hyperlink" Target="https://dolarhoy.com/cotizaciondolarblue" TargetMode="External"/><Relationship Id="rId4" Type="http://schemas.openxmlformats.org/officeDocument/2006/relationships/hyperlink" Target="https://www.ambito.com/contenidos/dolar-mep.html" TargetMode="External"/><Relationship Id="rId5" Type="http://schemas.openxmlformats.org/officeDocument/2006/relationships/hyperlink" Target="https://www.ambito.com/euro-informal" TargetMode="External"/><Relationship Id="rId6" Type="http://schemas.openxmlformats.org/officeDocument/2006/relationships/hyperlink" Target="https://api.argentinadatos.com/v1/finanzas/indices/riesgo-pais" TargetMode="External"/><Relationship Id="rId7" Type="http://schemas.openxmlformats.org/officeDocument/2006/relationships/hyperlink" Target="https://api.stlouisfed.org/fred/series/observations" TargetMode="External"/><Relationship Id="rId8" Type="http://schemas.openxmlformats.org/officeDocument/2006/relationships/hyperlink" Target="https://api.bcra.gob.ar/estadisticas/v4.0/Monetarias" TargetMode="External"/><Relationship Id="rId9" Type="http://schemas.openxmlformats.org/officeDocument/2006/relationships/hyperlink" Target="https://www.argentina.gob.ar/economia/finanzas/datos-mensuales-de-la-deuda/datos" TargetMode="External"/><Relationship Id="rId10" Type="http://schemas.openxmlformats.org/officeDocument/2006/relationships/hyperlink" Target="https://finance.yahoo.com/quote/BTC-USD" TargetMode="External"/><Relationship Id="rId11" Type="http://schemas.openxmlformats.org/officeDocument/2006/relationships/image" Target="../media/image2.png"/><Relationship Id="rId12" Type="http://schemas.openxmlformats.org/officeDocument/2006/relationships/hyperlink" Target="https://linkedin.com/in/mauroemartinez/" TargetMode="External"/><Relationship Id="rId13" Type="http://schemas.openxmlformats.org/officeDocument/2006/relationships/image" Target="../media/image3.png"/><Relationship Id="rId14" Type="http://schemas.openxmlformats.org/officeDocument/2006/relationships/hyperlink" Target="https://github.com/mauroemartinez/" TargetMode="External"/><Relationship Id="rId15" Type="http://schemas.openxmlformats.org/officeDocument/2006/relationships/image" Target="../media/image28.png"/><Relationship Id="rId16" Type="http://schemas.openxmlformats.org/officeDocument/2006/relationships/hyperlink" Target="https://www.globalaize.com" TargetMode="External"/><Relationship Id="rId17" Type="http://schemas.openxmlformats.org/officeDocument/2006/relationships/hyperlink" Target="https://www.linkedin.com/company/globalaize" TargetMode="External"/><Relationship Id="rId18" Type="http://schemas.openxmlformats.org/officeDocument/2006/relationships/hyperlink" Target="mailto:mauro@globalaize.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463040" y="-1737360"/>
            <a:ext cx="4206240" cy="4206240"/>
          </a:xfrm>
          <a:prstGeom prst="ellipse">
            <a:avLst/>
          </a:prstGeom>
          <a:solidFill>
            <a:srgbClr val="E7F2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66960" y="-1280160"/>
            <a:ext cx="3474720" cy="3474720"/>
          </a:xfrm>
          <a:prstGeom prst="ellipse">
            <a:avLst/>
          </a:prstGeom>
          <a:solidFill>
            <a:srgbClr val="E7F2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291840"/>
            <a:ext cx="2377440" cy="2377440"/>
          </a:xfrm>
          <a:prstGeom prst="ellipse">
            <a:avLst/>
          </a:prstGeom>
          <a:solidFill>
            <a:srgbClr val="E7F2F8">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lobalaize_logo.png">
            <a:hlinkClick r:id="rId3"/>
          </p:cNvPr>
          <p:cNvPicPr>
            <a:picLocks noChangeAspect="1"/>
          </p:cNvPicPr>
          <p:nvPr/>
        </p:nvPicPr>
        <p:blipFill>
          <a:blip r:embed="rId2"/>
          <a:stretch>
            <a:fillRect/>
          </a:stretch>
        </p:blipFill>
        <p:spPr>
          <a:xfrm>
            <a:off x="5432907" y="274320"/>
            <a:ext cx="1325880" cy="1325880"/>
          </a:xfrm>
          <a:prstGeom prst="rect">
            <a:avLst/>
          </a:prstGeom>
        </p:spPr>
      </p:pic>
      <p:sp>
        <p:nvSpPr>
          <p:cNvPr id="6" name="TextBox 5"/>
          <p:cNvSpPr txBox="1"/>
          <p:nvPr/>
        </p:nvSpPr>
        <p:spPr>
          <a:xfrm>
            <a:off x="0" y="1691640"/>
            <a:ext cx="12191695" cy="365760"/>
          </a:xfrm>
          <a:prstGeom prst="rect">
            <a:avLst/>
          </a:prstGeom>
          <a:noFill/>
        </p:spPr>
        <p:txBody>
          <a:bodyPr wrap="square">
            <a:spAutoFit/>
          </a:bodyPr>
          <a:lstStyle/>
          <a:p>
            <a:pPr algn="ctr"/>
            <a:r>
              <a:rPr sz="1400" b="1">
                <a:solidFill>
                  <a:srgbClr val="697E91"/>
                </a:solidFill>
              </a:rPr>
              <a:t>ARGENTINA · INFORME DIARIO</a:t>
            </a:r>
          </a:p>
        </p:txBody>
      </p:sp>
      <p:sp>
        <p:nvSpPr>
          <p:cNvPr id="7" name="TextBox 6"/>
          <p:cNvSpPr txBox="1"/>
          <p:nvPr/>
        </p:nvSpPr>
        <p:spPr>
          <a:xfrm>
            <a:off x="0" y="2011680"/>
            <a:ext cx="12191695" cy="914400"/>
          </a:xfrm>
          <a:prstGeom prst="rect">
            <a:avLst/>
          </a:prstGeom>
          <a:noFill/>
        </p:spPr>
        <p:txBody>
          <a:bodyPr wrap="square">
            <a:spAutoFit/>
          </a:bodyPr>
          <a:lstStyle/>
          <a:p>
            <a:pPr algn="ctr"/>
            <a:r>
              <a:rPr sz="5000" b="1">
                <a:solidFill>
                  <a:srgbClr val="081E40"/>
                </a:solidFill>
              </a:rPr>
              <a:t>Reporte Macroeconómico</a:t>
            </a:r>
          </a:p>
        </p:txBody>
      </p:sp>
      <p:sp>
        <p:nvSpPr>
          <p:cNvPr id="8" name="TextBox 7"/>
          <p:cNvSpPr txBox="1"/>
          <p:nvPr/>
        </p:nvSpPr>
        <p:spPr>
          <a:xfrm>
            <a:off x="0" y="2880360"/>
            <a:ext cx="12191695" cy="457200"/>
          </a:xfrm>
          <a:prstGeom prst="rect">
            <a:avLst/>
          </a:prstGeom>
          <a:noFill/>
        </p:spPr>
        <p:txBody>
          <a:bodyPr wrap="square">
            <a:spAutoFit/>
          </a:bodyPr>
          <a:lstStyle/>
          <a:p>
            <a:pPr algn="ctr"/>
            <a:r>
              <a:rPr sz="1800" b="0">
                <a:solidFill>
                  <a:srgbClr val="697E91"/>
                </a:solidFill>
              </a:rPr>
              <a:t>Dólar · Riesgo país · Tasas · Inflación · Agregados monetarios · Deuda · Bitcoin</a:t>
            </a:r>
          </a:p>
        </p:txBody>
      </p:sp>
      <p:sp>
        <p:nvSpPr>
          <p:cNvPr id="9" name="TextBox 8"/>
          <p:cNvSpPr txBox="1"/>
          <p:nvPr/>
        </p:nvSpPr>
        <p:spPr>
          <a:xfrm>
            <a:off x="0" y="3337560"/>
            <a:ext cx="12191695" cy="457200"/>
          </a:xfrm>
          <a:prstGeom prst="rect">
            <a:avLst/>
          </a:prstGeom>
          <a:noFill/>
        </p:spPr>
        <p:txBody>
          <a:bodyPr wrap="square">
            <a:spAutoFit/>
          </a:bodyPr>
          <a:lstStyle/>
          <a:p>
            <a:pPr algn="ctr"/>
            <a:r>
              <a:rPr sz="2400" b="1">
                <a:solidFill>
                  <a:srgbClr val="163A6B"/>
                </a:solidFill>
              </a:rPr>
              <a:t>16/10/2026</a:t>
            </a:r>
          </a:p>
        </p:txBody>
      </p:sp>
      <p:sp>
        <p:nvSpPr>
          <p:cNvPr id="10" name="TextBox 9"/>
          <p:cNvSpPr txBox="1"/>
          <p:nvPr/>
        </p:nvSpPr>
        <p:spPr>
          <a:xfrm>
            <a:off x="0" y="3886200"/>
            <a:ext cx="12191695" cy="365760"/>
          </a:xfrm>
          <a:prstGeom prst="rect">
            <a:avLst/>
          </a:prstGeom>
          <a:noFill/>
        </p:spPr>
        <p:txBody>
          <a:bodyPr wrap="square">
            <a:spAutoFit/>
          </a:bodyPr>
          <a:lstStyle/>
          <a:p>
            <a:pPr algn="ctr"/>
            <a:r>
              <a:rPr sz="1500" b="0">
                <a:solidFill>
                  <a:srgbClr val="697E91"/>
                </a:solidFill>
              </a:rPr>
              <a:t>por Mauro E. Martinez · GlobalAIze</a:t>
            </a:r>
          </a:p>
        </p:txBody>
      </p:sp>
      <p:pic>
        <p:nvPicPr>
          <p:cNvPr id="11" name="Picture 10" descr="linkedin.png">
            <a:hlinkClick r:id="rId5"/>
          </p:cNvPr>
          <p:cNvPicPr>
            <a:picLocks noChangeAspect="1"/>
          </p:cNvPicPr>
          <p:nvPr/>
        </p:nvPicPr>
        <p:blipFill>
          <a:blip r:embed="rId4"/>
          <a:stretch>
            <a:fillRect/>
          </a:stretch>
        </p:blipFill>
        <p:spPr>
          <a:xfrm>
            <a:off x="4221327" y="4297680"/>
            <a:ext cx="457200" cy="457200"/>
          </a:xfrm>
          <a:prstGeom prst="rect">
            <a:avLst/>
          </a:prstGeom>
        </p:spPr>
      </p:pic>
      <p:sp>
        <p:nvSpPr>
          <p:cNvPr id="12" name="TextBox 11">
            <a:hlinkClick r:id="rId5"/>
          </p:cNvPr>
          <p:cNvSpPr txBox="1"/>
          <p:nvPr/>
        </p:nvSpPr>
        <p:spPr>
          <a:xfrm>
            <a:off x="3626967" y="4782312"/>
            <a:ext cx="1645920" cy="457200"/>
          </a:xfrm>
          <a:prstGeom prst="rect">
            <a:avLst/>
          </a:prstGeom>
          <a:noFill/>
        </p:spPr>
        <p:txBody>
          <a:bodyPr wrap="square">
            <a:spAutoFit/>
          </a:bodyPr>
          <a:lstStyle/>
          <a:p>
            <a:pPr algn="ctr"/>
            <a:r>
              <a:rPr sz="1100" b="0">
                <a:solidFill>
                  <a:srgbClr val="081E40"/>
                </a:solidFill>
              </a:rPr>
              <a:t>LinkedIn</a:t>
            </a:r>
          </a:p>
        </p:txBody>
      </p:sp>
      <p:pic>
        <p:nvPicPr>
          <p:cNvPr id="13" name="Picture 12" descr="github.png">
            <a:hlinkClick r:id="rId7"/>
          </p:cNvPr>
          <p:cNvPicPr>
            <a:picLocks noChangeAspect="1"/>
          </p:cNvPicPr>
          <p:nvPr/>
        </p:nvPicPr>
        <p:blipFill>
          <a:blip r:embed="rId6"/>
          <a:stretch>
            <a:fillRect/>
          </a:stretch>
        </p:blipFill>
        <p:spPr>
          <a:xfrm>
            <a:off x="5867247" y="4297680"/>
            <a:ext cx="457200" cy="457200"/>
          </a:xfrm>
          <a:prstGeom prst="rect">
            <a:avLst/>
          </a:prstGeom>
        </p:spPr>
      </p:pic>
      <p:sp>
        <p:nvSpPr>
          <p:cNvPr id="14" name="TextBox 13">
            <a:hlinkClick r:id="rId7"/>
          </p:cNvPr>
          <p:cNvSpPr txBox="1"/>
          <p:nvPr/>
        </p:nvSpPr>
        <p:spPr>
          <a:xfrm>
            <a:off x="5272887" y="4782312"/>
            <a:ext cx="1645920" cy="457200"/>
          </a:xfrm>
          <a:prstGeom prst="rect">
            <a:avLst/>
          </a:prstGeom>
          <a:noFill/>
        </p:spPr>
        <p:txBody>
          <a:bodyPr wrap="square">
            <a:spAutoFit/>
          </a:bodyPr>
          <a:lstStyle/>
          <a:p>
            <a:pPr algn="ctr"/>
            <a:r>
              <a:rPr sz="1100" b="0">
                <a:solidFill>
                  <a:srgbClr val="081E40"/>
                </a:solidFill>
              </a:rPr>
              <a:t>GitHub</a:t>
            </a:r>
          </a:p>
        </p:txBody>
      </p:sp>
      <p:pic>
        <p:nvPicPr>
          <p:cNvPr id="15" name="Picture 14" descr="linkedin.png">
            <a:hlinkClick r:id="rId8"/>
          </p:cNvPr>
          <p:cNvPicPr>
            <a:picLocks noChangeAspect="1"/>
          </p:cNvPicPr>
          <p:nvPr/>
        </p:nvPicPr>
        <p:blipFill>
          <a:blip r:embed="rId4"/>
          <a:stretch>
            <a:fillRect/>
          </a:stretch>
        </p:blipFill>
        <p:spPr>
          <a:xfrm>
            <a:off x="7513167" y="4297680"/>
            <a:ext cx="457200" cy="457200"/>
          </a:xfrm>
          <a:prstGeom prst="rect">
            <a:avLst/>
          </a:prstGeom>
        </p:spPr>
      </p:pic>
      <p:sp>
        <p:nvSpPr>
          <p:cNvPr id="16" name="TextBox 15">
            <a:hlinkClick r:id="rId8"/>
          </p:cNvPr>
          <p:cNvSpPr txBox="1"/>
          <p:nvPr/>
        </p:nvSpPr>
        <p:spPr>
          <a:xfrm>
            <a:off x="6918807" y="4782312"/>
            <a:ext cx="1645920" cy="457200"/>
          </a:xfrm>
          <a:prstGeom prst="rect">
            <a:avLst/>
          </a:prstGeom>
          <a:noFill/>
        </p:spPr>
        <p:txBody>
          <a:bodyPr wrap="square">
            <a:spAutoFit/>
          </a:bodyPr>
          <a:lstStyle/>
          <a:p>
            <a:pPr algn="ctr"/>
            <a:r>
              <a:rPr sz="1100" b="0">
                <a:solidFill>
                  <a:srgbClr val="081E40"/>
                </a:solidFill>
              </a:rPr>
              <a:t>GlobalAIze en LinkedIn</a:t>
            </a:r>
          </a:p>
        </p:txBody>
      </p:sp>
      <p:sp>
        <p:nvSpPr>
          <p:cNvPr id="17" name="Rectangle 16"/>
          <p:cNvSpPr/>
          <p:nvPr/>
        </p:nvSpPr>
        <p:spPr>
          <a:xfrm>
            <a:off x="0" y="5532120"/>
            <a:ext cx="12191695" cy="1325880"/>
          </a:xfrm>
          <a:prstGeom prst="rect">
            <a:avLst/>
          </a:prstGeom>
          <a:solidFill>
            <a:srgbClr val="E7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0" y="5577840"/>
            <a:ext cx="12191695" cy="274320"/>
          </a:xfrm>
          <a:prstGeom prst="rect">
            <a:avLst/>
          </a:prstGeom>
          <a:noFill/>
        </p:spPr>
        <p:txBody>
          <a:bodyPr wrap="square">
            <a:spAutoFit/>
          </a:bodyPr>
          <a:lstStyle/>
          <a:p>
            <a:pPr algn="ctr"/>
            <a:r>
              <a:rPr sz="1000" b="1">
                <a:solidFill>
                  <a:srgbClr val="697E91"/>
                </a:solidFill>
              </a:rPr>
              <a:t>STACK</a:t>
            </a:r>
          </a:p>
        </p:txBody>
      </p:sp>
      <p:pic>
        <p:nvPicPr>
          <p:cNvPr id="19" name="Picture 18" descr="python.png"/>
          <p:cNvPicPr>
            <a:picLocks noChangeAspect="1"/>
          </p:cNvPicPr>
          <p:nvPr/>
        </p:nvPicPr>
        <p:blipFill>
          <a:blip r:embed="rId9"/>
          <a:stretch>
            <a:fillRect/>
          </a:stretch>
        </p:blipFill>
        <p:spPr>
          <a:xfrm>
            <a:off x="911199" y="5852160"/>
            <a:ext cx="384048" cy="384048"/>
          </a:xfrm>
          <a:prstGeom prst="rect">
            <a:avLst/>
          </a:prstGeom>
        </p:spPr>
      </p:pic>
      <p:sp>
        <p:nvSpPr>
          <p:cNvPr id="20" name="TextBox 19"/>
          <p:cNvSpPr txBox="1"/>
          <p:nvPr/>
        </p:nvSpPr>
        <p:spPr>
          <a:xfrm>
            <a:off x="700887" y="6309360"/>
            <a:ext cx="804672" cy="274320"/>
          </a:xfrm>
          <a:prstGeom prst="rect">
            <a:avLst/>
          </a:prstGeom>
          <a:noFill/>
        </p:spPr>
        <p:txBody>
          <a:bodyPr wrap="square">
            <a:spAutoFit/>
          </a:bodyPr>
          <a:lstStyle/>
          <a:p>
            <a:pPr algn="ctr"/>
            <a:r>
              <a:rPr sz="900" b="0">
                <a:solidFill>
                  <a:srgbClr val="081E40"/>
                </a:solidFill>
              </a:rPr>
              <a:t>Python</a:t>
            </a:r>
          </a:p>
        </p:txBody>
      </p:sp>
      <p:pic>
        <p:nvPicPr>
          <p:cNvPr id="21" name="Picture 20" descr="playwright.png"/>
          <p:cNvPicPr>
            <a:picLocks noChangeAspect="1"/>
          </p:cNvPicPr>
          <p:nvPr/>
        </p:nvPicPr>
        <p:blipFill>
          <a:blip r:embed="rId10"/>
          <a:stretch>
            <a:fillRect/>
          </a:stretch>
        </p:blipFill>
        <p:spPr>
          <a:xfrm>
            <a:off x="1624431" y="5852160"/>
            <a:ext cx="384048" cy="384048"/>
          </a:xfrm>
          <a:prstGeom prst="rect">
            <a:avLst/>
          </a:prstGeom>
        </p:spPr>
      </p:pic>
      <p:sp>
        <p:nvSpPr>
          <p:cNvPr id="22" name="TextBox 21"/>
          <p:cNvSpPr txBox="1"/>
          <p:nvPr/>
        </p:nvSpPr>
        <p:spPr>
          <a:xfrm>
            <a:off x="1414119" y="6309360"/>
            <a:ext cx="804672" cy="274320"/>
          </a:xfrm>
          <a:prstGeom prst="rect">
            <a:avLst/>
          </a:prstGeom>
          <a:noFill/>
        </p:spPr>
        <p:txBody>
          <a:bodyPr wrap="square">
            <a:spAutoFit/>
          </a:bodyPr>
          <a:lstStyle/>
          <a:p>
            <a:pPr algn="ctr"/>
            <a:r>
              <a:rPr sz="900" b="0">
                <a:solidFill>
                  <a:srgbClr val="081E40"/>
                </a:solidFill>
              </a:rPr>
              <a:t>Playwright</a:t>
            </a:r>
          </a:p>
        </p:txBody>
      </p:sp>
      <p:pic>
        <p:nvPicPr>
          <p:cNvPr id="23" name="Picture 22" descr="pandas.png"/>
          <p:cNvPicPr>
            <a:picLocks noChangeAspect="1"/>
          </p:cNvPicPr>
          <p:nvPr/>
        </p:nvPicPr>
        <p:blipFill>
          <a:blip r:embed="rId11"/>
          <a:stretch>
            <a:fillRect/>
          </a:stretch>
        </p:blipFill>
        <p:spPr>
          <a:xfrm>
            <a:off x="2337663" y="5852160"/>
            <a:ext cx="384048" cy="384048"/>
          </a:xfrm>
          <a:prstGeom prst="rect">
            <a:avLst/>
          </a:prstGeom>
        </p:spPr>
      </p:pic>
      <p:sp>
        <p:nvSpPr>
          <p:cNvPr id="24" name="TextBox 23"/>
          <p:cNvSpPr txBox="1"/>
          <p:nvPr/>
        </p:nvSpPr>
        <p:spPr>
          <a:xfrm>
            <a:off x="2127351" y="6309360"/>
            <a:ext cx="804672" cy="274320"/>
          </a:xfrm>
          <a:prstGeom prst="rect">
            <a:avLst/>
          </a:prstGeom>
          <a:noFill/>
        </p:spPr>
        <p:txBody>
          <a:bodyPr wrap="square">
            <a:spAutoFit/>
          </a:bodyPr>
          <a:lstStyle/>
          <a:p>
            <a:pPr algn="ctr"/>
            <a:r>
              <a:rPr sz="900" b="0">
                <a:solidFill>
                  <a:srgbClr val="081E40"/>
                </a:solidFill>
              </a:rPr>
              <a:t>pandas</a:t>
            </a:r>
          </a:p>
        </p:txBody>
      </p:sp>
      <p:pic>
        <p:nvPicPr>
          <p:cNvPr id="25" name="Picture 24" descr="pydantic.png"/>
          <p:cNvPicPr>
            <a:picLocks noChangeAspect="1"/>
          </p:cNvPicPr>
          <p:nvPr/>
        </p:nvPicPr>
        <p:blipFill>
          <a:blip r:embed="rId12"/>
          <a:stretch>
            <a:fillRect/>
          </a:stretch>
        </p:blipFill>
        <p:spPr>
          <a:xfrm>
            <a:off x="3050895" y="5852160"/>
            <a:ext cx="384048" cy="384048"/>
          </a:xfrm>
          <a:prstGeom prst="rect">
            <a:avLst/>
          </a:prstGeom>
        </p:spPr>
      </p:pic>
      <p:sp>
        <p:nvSpPr>
          <p:cNvPr id="26" name="TextBox 25"/>
          <p:cNvSpPr txBox="1"/>
          <p:nvPr/>
        </p:nvSpPr>
        <p:spPr>
          <a:xfrm>
            <a:off x="2840583" y="6309360"/>
            <a:ext cx="804672" cy="274320"/>
          </a:xfrm>
          <a:prstGeom prst="rect">
            <a:avLst/>
          </a:prstGeom>
          <a:noFill/>
        </p:spPr>
        <p:txBody>
          <a:bodyPr wrap="square">
            <a:spAutoFit/>
          </a:bodyPr>
          <a:lstStyle/>
          <a:p>
            <a:pPr algn="ctr"/>
            <a:r>
              <a:rPr sz="900" b="0">
                <a:solidFill>
                  <a:srgbClr val="081E40"/>
                </a:solidFill>
              </a:rPr>
              <a:t>Pydantic</a:t>
            </a:r>
          </a:p>
        </p:txBody>
      </p:sp>
      <p:pic>
        <p:nvPicPr>
          <p:cNvPr id="27" name="Picture 26" descr="sqlalchemy.png"/>
          <p:cNvPicPr>
            <a:picLocks noChangeAspect="1"/>
          </p:cNvPicPr>
          <p:nvPr/>
        </p:nvPicPr>
        <p:blipFill>
          <a:blip r:embed="rId13"/>
          <a:stretch>
            <a:fillRect/>
          </a:stretch>
        </p:blipFill>
        <p:spPr>
          <a:xfrm>
            <a:off x="3764127" y="5852160"/>
            <a:ext cx="384048" cy="384048"/>
          </a:xfrm>
          <a:prstGeom prst="rect">
            <a:avLst/>
          </a:prstGeom>
        </p:spPr>
      </p:pic>
      <p:sp>
        <p:nvSpPr>
          <p:cNvPr id="28" name="TextBox 27"/>
          <p:cNvSpPr txBox="1"/>
          <p:nvPr/>
        </p:nvSpPr>
        <p:spPr>
          <a:xfrm>
            <a:off x="3553815" y="6309360"/>
            <a:ext cx="804672" cy="274320"/>
          </a:xfrm>
          <a:prstGeom prst="rect">
            <a:avLst/>
          </a:prstGeom>
          <a:noFill/>
        </p:spPr>
        <p:txBody>
          <a:bodyPr wrap="square">
            <a:spAutoFit/>
          </a:bodyPr>
          <a:lstStyle/>
          <a:p>
            <a:pPr algn="ctr"/>
            <a:r>
              <a:rPr sz="900" b="0">
                <a:solidFill>
                  <a:srgbClr val="081E40"/>
                </a:solidFill>
              </a:rPr>
              <a:t>SQLAlchemy</a:t>
            </a:r>
          </a:p>
        </p:txBody>
      </p:sp>
      <p:pic>
        <p:nvPicPr>
          <p:cNvPr id="29" name="Picture 28" descr="postgresql.png"/>
          <p:cNvPicPr>
            <a:picLocks noChangeAspect="1"/>
          </p:cNvPicPr>
          <p:nvPr/>
        </p:nvPicPr>
        <p:blipFill>
          <a:blip r:embed="rId14"/>
          <a:stretch>
            <a:fillRect/>
          </a:stretch>
        </p:blipFill>
        <p:spPr>
          <a:xfrm>
            <a:off x="4477359" y="5852160"/>
            <a:ext cx="384048" cy="384048"/>
          </a:xfrm>
          <a:prstGeom prst="rect">
            <a:avLst/>
          </a:prstGeom>
        </p:spPr>
      </p:pic>
      <p:sp>
        <p:nvSpPr>
          <p:cNvPr id="30" name="TextBox 29"/>
          <p:cNvSpPr txBox="1"/>
          <p:nvPr/>
        </p:nvSpPr>
        <p:spPr>
          <a:xfrm>
            <a:off x="4267047" y="6309360"/>
            <a:ext cx="804672" cy="274320"/>
          </a:xfrm>
          <a:prstGeom prst="rect">
            <a:avLst/>
          </a:prstGeom>
          <a:noFill/>
        </p:spPr>
        <p:txBody>
          <a:bodyPr wrap="square">
            <a:spAutoFit/>
          </a:bodyPr>
          <a:lstStyle/>
          <a:p>
            <a:pPr algn="ctr"/>
            <a:r>
              <a:rPr sz="900" b="0">
                <a:solidFill>
                  <a:srgbClr val="081E40"/>
                </a:solidFill>
              </a:rPr>
              <a:t>PostgreSQL</a:t>
            </a:r>
          </a:p>
        </p:txBody>
      </p:sp>
      <p:pic>
        <p:nvPicPr>
          <p:cNvPr id="31" name="Picture 30" descr="supabase.png"/>
          <p:cNvPicPr>
            <a:picLocks noChangeAspect="1"/>
          </p:cNvPicPr>
          <p:nvPr/>
        </p:nvPicPr>
        <p:blipFill>
          <a:blip r:embed="rId15"/>
          <a:stretch>
            <a:fillRect/>
          </a:stretch>
        </p:blipFill>
        <p:spPr>
          <a:xfrm>
            <a:off x="5190591" y="5852160"/>
            <a:ext cx="384048" cy="384048"/>
          </a:xfrm>
          <a:prstGeom prst="rect">
            <a:avLst/>
          </a:prstGeom>
        </p:spPr>
      </p:pic>
      <p:sp>
        <p:nvSpPr>
          <p:cNvPr id="32" name="TextBox 31"/>
          <p:cNvSpPr txBox="1"/>
          <p:nvPr/>
        </p:nvSpPr>
        <p:spPr>
          <a:xfrm>
            <a:off x="4980279" y="6309360"/>
            <a:ext cx="804672" cy="274320"/>
          </a:xfrm>
          <a:prstGeom prst="rect">
            <a:avLst/>
          </a:prstGeom>
          <a:noFill/>
        </p:spPr>
        <p:txBody>
          <a:bodyPr wrap="square">
            <a:spAutoFit/>
          </a:bodyPr>
          <a:lstStyle/>
          <a:p>
            <a:pPr algn="ctr"/>
            <a:r>
              <a:rPr sz="900" b="0">
                <a:solidFill>
                  <a:srgbClr val="081E40"/>
                </a:solidFill>
              </a:rPr>
              <a:t>Supabase</a:t>
            </a:r>
          </a:p>
        </p:txBody>
      </p:sp>
      <p:pic>
        <p:nvPicPr>
          <p:cNvPr id="33" name="Picture 32" descr="gemini.png"/>
          <p:cNvPicPr>
            <a:picLocks noChangeAspect="1"/>
          </p:cNvPicPr>
          <p:nvPr/>
        </p:nvPicPr>
        <p:blipFill>
          <a:blip r:embed="rId16"/>
          <a:stretch>
            <a:fillRect/>
          </a:stretch>
        </p:blipFill>
        <p:spPr>
          <a:xfrm>
            <a:off x="5903823" y="5852160"/>
            <a:ext cx="384048" cy="384048"/>
          </a:xfrm>
          <a:prstGeom prst="rect">
            <a:avLst/>
          </a:prstGeom>
        </p:spPr>
      </p:pic>
      <p:sp>
        <p:nvSpPr>
          <p:cNvPr id="34" name="TextBox 33"/>
          <p:cNvSpPr txBox="1"/>
          <p:nvPr/>
        </p:nvSpPr>
        <p:spPr>
          <a:xfrm>
            <a:off x="5693511" y="6309360"/>
            <a:ext cx="804672" cy="274320"/>
          </a:xfrm>
          <a:prstGeom prst="rect">
            <a:avLst/>
          </a:prstGeom>
          <a:noFill/>
        </p:spPr>
        <p:txBody>
          <a:bodyPr wrap="square">
            <a:spAutoFit/>
          </a:bodyPr>
          <a:lstStyle/>
          <a:p>
            <a:pPr algn="ctr"/>
            <a:r>
              <a:rPr sz="900" b="0">
                <a:solidFill>
                  <a:srgbClr val="081E40"/>
                </a:solidFill>
              </a:rPr>
              <a:t>Gemini</a:t>
            </a:r>
          </a:p>
        </p:txBody>
      </p:sp>
      <p:pic>
        <p:nvPicPr>
          <p:cNvPr id="35" name="Picture 34" descr="matplotlib.png"/>
          <p:cNvPicPr>
            <a:picLocks noChangeAspect="1"/>
          </p:cNvPicPr>
          <p:nvPr/>
        </p:nvPicPr>
        <p:blipFill>
          <a:blip r:embed="rId17"/>
          <a:stretch>
            <a:fillRect/>
          </a:stretch>
        </p:blipFill>
        <p:spPr>
          <a:xfrm>
            <a:off x="6617055" y="5852160"/>
            <a:ext cx="384048" cy="384048"/>
          </a:xfrm>
          <a:prstGeom prst="rect">
            <a:avLst/>
          </a:prstGeom>
        </p:spPr>
      </p:pic>
      <p:sp>
        <p:nvSpPr>
          <p:cNvPr id="36" name="TextBox 35"/>
          <p:cNvSpPr txBox="1"/>
          <p:nvPr/>
        </p:nvSpPr>
        <p:spPr>
          <a:xfrm>
            <a:off x="6406743" y="6309360"/>
            <a:ext cx="804672" cy="274320"/>
          </a:xfrm>
          <a:prstGeom prst="rect">
            <a:avLst/>
          </a:prstGeom>
          <a:noFill/>
        </p:spPr>
        <p:txBody>
          <a:bodyPr wrap="square">
            <a:spAutoFit/>
          </a:bodyPr>
          <a:lstStyle/>
          <a:p>
            <a:pPr algn="ctr"/>
            <a:r>
              <a:rPr sz="900" b="0">
                <a:solidFill>
                  <a:srgbClr val="081E40"/>
                </a:solidFill>
              </a:rPr>
              <a:t>Matplotlib</a:t>
            </a:r>
          </a:p>
        </p:txBody>
      </p:sp>
      <p:pic>
        <p:nvPicPr>
          <p:cNvPr id="37" name="Picture 36" descr="seaborn.png"/>
          <p:cNvPicPr>
            <a:picLocks noChangeAspect="1"/>
          </p:cNvPicPr>
          <p:nvPr/>
        </p:nvPicPr>
        <p:blipFill>
          <a:blip r:embed="rId18"/>
          <a:stretch>
            <a:fillRect/>
          </a:stretch>
        </p:blipFill>
        <p:spPr>
          <a:xfrm>
            <a:off x="7330287" y="5852160"/>
            <a:ext cx="384048" cy="384048"/>
          </a:xfrm>
          <a:prstGeom prst="rect">
            <a:avLst/>
          </a:prstGeom>
        </p:spPr>
      </p:pic>
      <p:sp>
        <p:nvSpPr>
          <p:cNvPr id="38" name="TextBox 37"/>
          <p:cNvSpPr txBox="1"/>
          <p:nvPr/>
        </p:nvSpPr>
        <p:spPr>
          <a:xfrm>
            <a:off x="7119975" y="6309360"/>
            <a:ext cx="804672" cy="274320"/>
          </a:xfrm>
          <a:prstGeom prst="rect">
            <a:avLst/>
          </a:prstGeom>
          <a:noFill/>
        </p:spPr>
        <p:txBody>
          <a:bodyPr wrap="square">
            <a:spAutoFit/>
          </a:bodyPr>
          <a:lstStyle/>
          <a:p>
            <a:pPr algn="ctr"/>
            <a:r>
              <a:rPr sz="900" b="0">
                <a:solidFill>
                  <a:srgbClr val="081E40"/>
                </a:solidFill>
              </a:rPr>
              <a:t>seaborn</a:t>
            </a:r>
          </a:p>
        </p:txBody>
      </p:sp>
      <p:pic>
        <p:nvPicPr>
          <p:cNvPr id="39" name="Picture 38" descr="jinja.png"/>
          <p:cNvPicPr>
            <a:picLocks noChangeAspect="1"/>
          </p:cNvPicPr>
          <p:nvPr/>
        </p:nvPicPr>
        <p:blipFill>
          <a:blip r:embed="rId19"/>
          <a:stretch>
            <a:fillRect/>
          </a:stretch>
        </p:blipFill>
        <p:spPr>
          <a:xfrm>
            <a:off x="8043519" y="5852160"/>
            <a:ext cx="384048" cy="384048"/>
          </a:xfrm>
          <a:prstGeom prst="rect">
            <a:avLst/>
          </a:prstGeom>
        </p:spPr>
      </p:pic>
      <p:sp>
        <p:nvSpPr>
          <p:cNvPr id="40" name="TextBox 39"/>
          <p:cNvSpPr txBox="1"/>
          <p:nvPr/>
        </p:nvSpPr>
        <p:spPr>
          <a:xfrm>
            <a:off x="7833207" y="6309360"/>
            <a:ext cx="804672" cy="274320"/>
          </a:xfrm>
          <a:prstGeom prst="rect">
            <a:avLst/>
          </a:prstGeom>
          <a:noFill/>
        </p:spPr>
        <p:txBody>
          <a:bodyPr wrap="square">
            <a:spAutoFit/>
          </a:bodyPr>
          <a:lstStyle/>
          <a:p>
            <a:pPr algn="ctr"/>
            <a:r>
              <a:rPr sz="900" b="0">
                <a:solidFill>
                  <a:srgbClr val="081E40"/>
                </a:solidFill>
              </a:rPr>
              <a:t>Jinja</a:t>
            </a:r>
          </a:p>
        </p:txBody>
      </p:sp>
      <p:pic>
        <p:nvPicPr>
          <p:cNvPr id="41" name="Picture 40" descr="powerpoint.png"/>
          <p:cNvPicPr>
            <a:picLocks noChangeAspect="1"/>
          </p:cNvPicPr>
          <p:nvPr/>
        </p:nvPicPr>
        <p:blipFill>
          <a:blip r:embed="rId20"/>
          <a:stretch>
            <a:fillRect/>
          </a:stretch>
        </p:blipFill>
        <p:spPr>
          <a:xfrm>
            <a:off x="8756751" y="5852160"/>
            <a:ext cx="384048" cy="384048"/>
          </a:xfrm>
          <a:prstGeom prst="rect">
            <a:avLst/>
          </a:prstGeom>
        </p:spPr>
      </p:pic>
      <p:sp>
        <p:nvSpPr>
          <p:cNvPr id="42" name="TextBox 41"/>
          <p:cNvSpPr txBox="1"/>
          <p:nvPr/>
        </p:nvSpPr>
        <p:spPr>
          <a:xfrm>
            <a:off x="8546439" y="6309360"/>
            <a:ext cx="804672" cy="274320"/>
          </a:xfrm>
          <a:prstGeom prst="rect">
            <a:avLst/>
          </a:prstGeom>
          <a:noFill/>
        </p:spPr>
        <p:txBody>
          <a:bodyPr wrap="square">
            <a:spAutoFit/>
          </a:bodyPr>
          <a:lstStyle/>
          <a:p>
            <a:pPr algn="ctr"/>
            <a:r>
              <a:rPr sz="900" b="0">
                <a:solidFill>
                  <a:srgbClr val="081E40"/>
                </a:solidFill>
              </a:rPr>
              <a:t>PowerPoint</a:t>
            </a:r>
          </a:p>
        </p:txBody>
      </p:sp>
      <p:pic>
        <p:nvPicPr>
          <p:cNvPr id="43" name="Picture 42" descr="githubactions.png"/>
          <p:cNvPicPr>
            <a:picLocks noChangeAspect="1"/>
          </p:cNvPicPr>
          <p:nvPr/>
        </p:nvPicPr>
        <p:blipFill>
          <a:blip r:embed="rId21"/>
          <a:stretch>
            <a:fillRect/>
          </a:stretch>
        </p:blipFill>
        <p:spPr>
          <a:xfrm>
            <a:off x="9469983" y="5852160"/>
            <a:ext cx="384048" cy="384048"/>
          </a:xfrm>
          <a:prstGeom prst="rect">
            <a:avLst/>
          </a:prstGeom>
        </p:spPr>
      </p:pic>
      <p:sp>
        <p:nvSpPr>
          <p:cNvPr id="44" name="TextBox 43"/>
          <p:cNvSpPr txBox="1"/>
          <p:nvPr/>
        </p:nvSpPr>
        <p:spPr>
          <a:xfrm>
            <a:off x="9259671" y="6309360"/>
            <a:ext cx="804672" cy="274320"/>
          </a:xfrm>
          <a:prstGeom prst="rect">
            <a:avLst/>
          </a:prstGeom>
          <a:noFill/>
        </p:spPr>
        <p:txBody>
          <a:bodyPr wrap="square">
            <a:spAutoFit/>
          </a:bodyPr>
          <a:lstStyle/>
          <a:p>
            <a:pPr algn="ctr"/>
            <a:r>
              <a:rPr sz="900" b="0">
                <a:solidFill>
                  <a:srgbClr val="081E40"/>
                </a:solidFill>
              </a:rPr>
              <a:t>GitHub Actions</a:t>
            </a:r>
          </a:p>
        </p:txBody>
      </p:sp>
      <p:pic>
        <p:nvPicPr>
          <p:cNvPr id="45" name="Picture 44" descr="cloudflare.png"/>
          <p:cNvPicPr>
            <a:picLocks noChangeAspect="1"/>
          </p:cNvPicPr>
          <p:nvPr/>
        </p:nvPicPr>
        <p:blipFill>
          <a:blip r:embed="rId22"/>
          <a:stretch>
            <a:fillRect/>
          </a:stretch>
        </p:blipFill>
        <p:spPr>
          <a:xfrm>
            <a:off x="10183215" y="5852160"/>
            <a:ext cx="384048" cy="384048"/>
          </a:xfrm>
          <a:prstGeom prst="rect">
            <a:avLst/>
          </a:prstGeom>
        </p:spPr>
      </p:pic>
      <p:sp>
        <p:nvSpPr>
          <p:cNvPr id="46" name="TextBox 45"/>
          <p:cNvSpPr txBox="1"/>
          <p:nvPr/>
        </p:nvSpPr>
        <p:spPr>
          <a:xfrm>
            <a:off x="9972903" y="6309360"/>
            <a:ext cx="804672" cy="274320"/>
          </a:xfrm>
          <a:prstGeom prst="rect">
            <a:avLst/>
          </a:prstGeom>
          <a:noFill/>
        </p:spPr>
        <p:txBody>
          <a:bodyPr wrap="square">
            <a:spAutoFit/>
          </a:bodyPr>
          <a:lstStyle/>
          <a:p>
            <a:pPr algn="ctr"/>
            <a:r>
              <a:rPr sz="900" b="0">
                <a:solidFill>
                  <a:srgbClr val="081E40"/>
                </a:solidFill>
              </a:rPr>
              <a:t>Cloudflare</a:t>
            </a:r>
          </a:p>
        </p:txBody>
      </p:sp>
      <p:pic>
        <p:nvPicPr>
          <p:cNvPr id="47" name="Picture 46" descr="pytest.png"/>
          <p:cNvPicPr>
            <a:picLocks noChangeAspect="1"/>
          </p:cNvPicPr>
          <p:nvPr/>
        </p:nvPicPr>
        <p:blipFill>
          <a:blip r:embed="rId23"/>
          <a:stretch>
            <a:fillRect/>
          </a:stretch>
        </p:blipFill>
        <p:spPr>
          <a:xfrm>
            <a:off x="10896447" y="5852160"/>
            <a:ext cx="384048" cy="384048"/>
          </a:xfrm>
          <a:prstGeom prst="rect">
            <a:avLst/>
          </a:prstGeom>
        </p:spPr>
      </p:pic>
      <p:sp>
        <p:nvSpPr>
          <p:cNvPr id="48" name="TextBox 47"/>
          <p:cNvSpPr txBox="1"/>
          <p:nvPr/>
        </p:nvSpPr>
        <p:spPr>
          <a:xfrm>
            <a:off x="10686135" y="6309360"/>
            <a:ext cx="804672" cy="274320"/>
          </a:xfrm>
          <a:prstGeom prst="rect">
            <a:avLst/>
          </a:prstGeom>
          <a:noFill/>
        </p:spPr>
        <p:txBody>
          <a:bodyPr wrap="square">
            <a:spAutoFit/>
          </a:bodyPr>
          <a:lstStyle/>
          <a:p>
            <a:pPr algn="ctr"/>
            <a:r>
              <a:rPr sz="900" b="0">
                <a:solidFill>
                  <a:srgbClr val="081E40"/>
                </a:solidFill>
              </a:rPr>
              <a:t>pytest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Tablero del día</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2</a:t>
            </a:r>
          </a:p>
        </p:txBody>
      </p:sp>
      <p:sp>
        <p:nvSpPr>
          <p:cNvPr id="8" name="Rounded Rectangle 7"/>
          <p:cNvSpPr/>
          <p:nvPr/>
        </p:nvSpPr>
        <p:spPr>
          <a:xfrm>
            <a:off x="411480" y="12801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89888"/>
            <a:ext cx="64008" cy="12435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71600"/>
            <a:ext cx="3200400" cy="365760"/>
          </a:xfrm>
          <a:prstGeom prst="rect">
            <a:avLst/>
          </a:prstGeom>
          <a:noFill/>
        </p:spPr>
        <p:txBody>
          <a:bodyPr wrap="square">
            <a:spAutoFit/>
          </a:bodyPr>
          <a:lstStyle/>
          <a:p>
            <a:pPr algn="l"/>
            <a:r>
              <a:rPr sz="1300" b="1">
                <a:solidFill>
                  <a:srgbClr val="5D6D7E"/>
                </a:solidFill>
              </a:rPr>
              <a:t>DÓLAR BLUE</a:t>
            </a:r>
          </a:p>
        </p:txBody>
      </p:sp>
      <p:sp>
        <p:nvSpPr>
          <p:cNvPr id="11" name="TextBox 10"/>
          <p:cNvSpPr txBox="1"/>
          <p:nvPr/>
        </p:nvSpPr>
        <p:spPr>
          <a:xfrm>
            <a:off x="640080" y="1664208"/>
            <a:ext cx="3200400" cy="548640"/>
          </a:xfrm>
          <a:prstGeom prst="rect">
            <a:avLst/>
          </a:prstGeom>
          <a:noFill/>
        </p:spPr>
        <p:txBody>
          <a:bodyPr wrap="square">
            <a:spAutoFit/>
          </a:bodyPr>
          <a:lstStyle/>
          <a:p>
            <a:pPr algn="l"/>
            <a:r>
              <a:rPr sz="3200" b="1">
                <a:solidFill>
                  <a:srgbClr val="163A6B"/>
                </a:solidFill>
              </a:rPr>
              <a:t>$ 1.555,00</a:t>
            </a:r>
          </a:p>
        </p:txBody>
      </p:sp>
      <p:sp>
        <p:nvSpPr>
          <p:cNvPr id="12" name="TextBox 11"/>
          <p:cNvSpPr txBox="1"/>
          <p:nvPr/>
        </p:nvSpPr>
        <p:spPr>
          <a:xfrm>
            <a:off x="640080" y="2267712"/>
            <a:ext cx="3200400" cy="365760"/>
          </a:xfrm>
          <a:prstGeom prst="rect">
            <a:avLst/>
          </a:prstGeom>
          <a:noFill/>
        </p:spPr>
        <p:txBody>
          <a:bodyPr wrap="square">
            <a:spAutoFit/>
          </a:bodyPr>
          <a:lstStyle/>
          <a:p>
            <a:pPr algn="l"/>
            <a:r>
              <a:rPr sz="1400" b="0">
                <a:solidFill>
                  <a:srgbClr val="C0392B"/>
                </a:solidFill>
              </a:rPr>
              <a:t>+0,65% contra la rueda anterior</a:t>
            </a:r>
          </a:p>
        </p:txBody>
      </p:sp>
      <p:sp>
        <p:nvSpPr>
          <p:cNvPr id="13" name="Rounded Rectangle 12"/>
          <p:cNvSpPr/>
          <p:nvPr/>
        </p:nvSpPr>
        <p:spPr>
          <a:xfrm>
            <a:off x="4251960" y="12801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389888"/>
            <a:ext cx="64008" cy="12435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371600"/>
            <a:ext cx="3200400" cy="365760"/>
          </a:xfrm>
          <a:prstGeom prst="rect">
            <a:avLst/>
          </a:prstGeom>
          <a:noFill/>
        </p:spPr>
        <p:txBody>
          <a:bodyPr wrap="square">
            <a:spAutoFit/>
          </a:bodyPr>
          <a:lstStyle/>
          <a:p>
            <a:pPr algn="l"/>
            <a:r>
              <a:rPr sz="1300" b="1">
                <a:solidFill>
                  <a:srgbClr val="5D6D7E"/>
                </a:solidFill>
              </a:rPr>
              <a:t>DÓLAR MEP</a:t>
            </a:r>
          </a:p>
        </p:txBody>
      </p:sp>
      <p:sp>
        <p:nvSpPr>
          <p:cNvPr id="16" name="TextBox 15"/>
          <p:cNvSpPr txBox="1"/>
          <p:nvPr/>
        </p:nvSpPr>
        <p:spPr>
          <a:xfrm>
            <a:off x="4480560" y="1664208"/>
            <a:ext cx="3200400" cy="548640"/>
          </a:xfrm>
          <a:prstGeom prst="rect">
            <a:avLst/>
          </a:prstGeom>
          <a:noFill/>
        </p:spPr>
        <p:txBody>
          <a:bodyPr wrap="square">
            <a:spAutoFit/>
          </a:bodyPr>
          <a:lstStyle/>
          <a:p>
            <a:pPr algn="l"/>
            <a:r>
              <a:rPr sz="3200" b="1">
                <a:solidFill>
                  <a:srgbClr val="163A6B"/>
                </a:solidFill>
              </a:rPr>
              <a:t>$ 1.536,04</a:t>
            </a:r>
          </a:p>
        </p:txBody>
      </p:sp>
      <p:sp>
        <p:nvSpPr>
          <p:cNvPr id="17" name="TextBox 16"/>
          <p:cNvSpPr txBox="1"/>
          <p:nvPr/>
        </p:nvSpPr>
        <p:spPr>
          <a:xfrm>
            <a:off x="4480560" y="2267712"/>
            <a:ext cx="3200400" cy="365760"/>
          </a:xfrm>
          <a:prstGeom prst="rect">
            <a:avLst/>
          </a:prstGeom>
          <a:noFill/>
        </p:spPr>
        <p:txBody>
          <a:bodyPr wrap="square">
            <a:spAutoFit/>
          </a:bodyPr>
          <a:lstStyle/>
          <a:p>
            <a:pPr algn="l"/>
            <a:r>
              <a:rPr sz="1400" b="0">
                <a:solidFill>
                  <a:srgbClr val="C0392B"/>
                </a:solidFill>
              </a:rPr>
              <a:t>+0,04% contra la rueda anterior</a:t>
            </a:r>
          </a:p>
        </p:txBody>
      </p:sp>
      <p:sp>
        <p:nvSpPr>
          <p:cNvPr id="18" name="Rounded Rectangle 17"/>
          <p:cNvSpPr/>
          <p:nvPr/>
        </p:nvSpPr>
        <p:spPr>
          <a:xfrm>
            <a:off x="8092440" y="12801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389888"/>
            <a:ext cx="64008" cy="12435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371600"/>
            <a:ext cx="3200400" cy="365760"/>
          </a:xfrm>
          <a:prstGeom prst="rect">
            <a:avLst/>
          </a:prstGeom>
          <a:noFill/>
        </p:spPr>
        <p:txBody>
          <a:bodyPr wrap="square">
            <a:spAutoFit/>
          </a:bodyPr>
          <a:lstStyle/>
          <a:p>
            <a:pPr algn="l"/>
            <a:r>
              <a:rPr sz="1300" b="1">
                <a:solidFill>
                  <a:srgbClr val="5D6D7E"/>
                </a:solidFill>
              </a:rPr>
              <a:t>BILLETE BNA</a:t>
            </a:r>
          </a:p>
        </p:txBody>
      </p:sp>
      <p:sp>
        <p:nvSpPr>
          <p:cNvPr id="21" name="TextBox 20"/>
          <p:cNvSpPr txBox="1"/>
          <p:nvPr/>
        </p:nvSpPr>
        <p:spPr>
          <a:xfrm>
            <a:off x="8321040" y="1664208"/>
            <a:ext cx="3200400" cy="548640"/>
          </a:xfrm>
          <a:prstGeom prst="rect">
            <a:avLst/>
          </a:prstGeom>
          <a:noFill/>
        </p:spPr>
        <p:txBody>
          <a:bodyPr wrap="square">
            <a:spAutoFit/>
          </a:bodyPr>
          <a:lstStyle/>
          <a:p>
            <a:pPr algn="l"/>
            <a:r>
              <a:rPr sz="3200" b="1">
                <a:solidFill>
                  <a:srgbClr val="163A6B"/>
                </a:solidFill>
              </a:rPr>
              <a:t>$ 1.535,00</a:t>
            </a:r>
          </a:p>
        </p:txBody>
      </p:sp>
      <p:sp>
        <p:nvSpPr>
          <p:cNvPr id="22" name="TextBox 21"/>
          <p:cNvSpPr txBox="1"/>
          <p:nvPr/>
        </p:nvSpPr>
        <p:spPr>
          <a:xfrm>
            <a:off x="8321040" y="2267712"/>
            <a:ext cx="3200400" cy="365760"/>
          </a:xfrm>
          <a:prstGeom prst="rect">
            <a:avLst/>
          </a:prstGeom>
          <a:noFill/>
        </p:spPr>
        <p:txBody>
          <a:bodyPr wrap="square">
            <a:spAutoFit/>
          </a:bodyPr>
          <a:lstStyle/>
          <a:p>
            <a:pPr algn="l"/>
            <a:r>
              <a:rPr sz="1400" b="0">
                <a:solidFill>
                  <a:srgbClr val="C0392B"/>
                </a:solidFill>
              </a:rPr>
              <a:t>+0,33% contra la rueda anterior</a:t>
            </a:r>
          </a:p>
        </p:txBody>
      </p:sp>
      <p:sp>
        <p:nvSpPr>
          <p:cNvPr id="23" name="Rounded Rectangle 22"/>
          <p:cNvSpPr/>
          <p:nvPr/>
        </p:nvSpPr>
        <p:spPr>
          <a:xfrm>
            <a:off x="411480" y="31089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218688"/>
            <a:ext cx="64008" cy="12435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200400"/>
            <a:ext cx="3200400" cy="365760"/>
          </a:xfrm>
          <a:prstGeom prst="rect">
            <a:avLst/>
          </a:prstGeom>
          <a:noFill/>
        </p:spPr>
        <p:txBody>
          <a:bodyPr wrap="square">
            <a:spAutoFit/>
          </a:bodyPr>
          <a:lstStyle/>
          <a:p>
            <a:pPr algn="l"/>
            <a:r>
              <a:rPr sz="1300" b="1">
                <a:solidFill>
                  <a:srgbClr val="5D6D7E"/>
                </a:solidFill>
              </a:rPr>
              <a:t>RIESGO PAÍS</a:t>
            </a:r>
          </a:p>
        </p:txBody>
      </p:sp>
      <p:sp>
        <p:nvSpPr>
          <p:cNvPr id="26" name="TextBox 25"/>
          <p:cNvSpPr txBox="1"/>
          <p:nvPr/>
        </p:nvSpPr>
        <p:spPr>
          <a:xfrm>
            <a:off x="640080" y="3493008"/>
            <a:ext cx="3200400" cy="548640"/>
          </a:xfrm>
          <a:prstGeom prst="rect">
            <a:avLst/>
          </a:prstGeom>
          <a:noFill/>
        </p:spPr>
        <p:txBody>
          <a:bodyPr wrap="square">
            <a:spAutoFit/>
          </a:bodyPr>
          <a:lstStyle/>
          <a:p>
            <a:pPr algn="l"/>
            <a:r>
              <a:rPr sz="3200" b="1">
                <a:solidFill>
                  <a:srgbClr val="163A6B"/>
                </a:solidFill>
              </a:rPr>
              <a:t>622 pts</a:t>
            </a:r>
          </a:p>
        </p:txBody>
      </p:sp>
      <p:sp>
        <p:nvSpPr>
          <p:cNvPr id="27" name="TextBox 26"/>
          <p:cNvSpPr txBox="1"/>
          <p:nvPr/>
        </p:nvSpPr>
        <p:spPr>
          <a:xfrm>
            <a:off x="640080" y="4096512"/>
            <a:ext cx="3200400" cy="365760"/>
          </a:xfrm>
          <a:prstGeom prst="rect">
            <a:avLst/>
          </a:prstGeom>
          <a:noFill/>
        </p:spPr>
        <p:txBody>
          <a:bodyPr wrap="square">
            <a:spAutoFit/>
          </a:bodyPr>
          <a:lstStyle/>
          <a:p>
            <a:pPr algn="l"/>
            <a:r>
              <a:rPr sz="1400" b="0">
                <a:solidFill>
                  <a:srgbClr val="C0392B"/>
                </a:solidFill>
              </a:rPr>
              <a:t>+11 pts contra la rueda anterior</a:t>
            </a:r>
          </a:p>
        </p:txBody>
      </p:sp>
      <p:sp>
        <p:nvSpPr>
          <p:cNvPr id="28" name="Rounded Rectangle 27"/>
          <p:cNvSpPr/>
          <p:nvPr/>
        </p:nvSpPr>
        <p:spPr>
          <a:xfrm>
            <a:off x="4251960" y="31089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51960" y="3218688"/>
            <a:ext cx="64008" cy="1243584"/>
          </a:xfrm>
          <a:prstGeom prst="rect">
            <a:avLst/>
          </a:prstGeom>
          <a:solidFill>
            <a:srgbClr val="16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3200400"/>
            <a:ext cx="3200400" cy="365760"/>
          </a:xfrm>
          <a:prstGeom prst="rect">
            <a:avLst/>
          </a:prstGeom>
          <a:noFill/>
        </p:spPr>
        <p:txBody>
          <a:bodyPr wrap="square">
            <a:spAutoFit/>
          </a:bodyPr>
          <a:lstStyle/>
          <a:p>
            <a:pPr algn="l"/>
            <a:r>
              <a:rPr sz="1300" b="1">
                <a:solidFill>
                  <a:srgbClr val="5D6D7E"/>
                </a:solidFill>
              </a:rPr>
              <a:t>BADLAR (TEA)</a:t>
            </a:r>
          </a:p>
        </p:txBody>
      </p:sp>
      <p:sp>
        <p:nvSpPr>
          <p:cNvPr id="31" name="TextBox 30"/>
          <p:cNvSpPr txBox="1"/>
          <p:nvPr/>
        </p:nvSpPr>
        <p:spPr>
          <a:xfrm>
            <a:off x="4480560" y="3493008"/>
            <a:ext cx="3200400" cy="548640"/>
          </a:xfrm>
          <a:prstGeom prst="rect">
            <a:avLst/>
          </a:prstGeom>
          <a:noFill/>
        </p:spPr>
        <p:txBody>
          <a:bodyPr wrap="square">
            <a:spAutoFit/>
          </a:bodyPr>
          <a:lstStyle/>
          <a:p>
            <a:pPr algn="l"/>
            <a:r>
              <a:rPr sz="3200" b="1">
                <a:solidFill>
                  <a:srgbClr val="163A6B"/>
                </a:solidFill>
              </a:rPr>
              <a:t>24,96%</a:t>
            </a:r>
          </a:p>
        </p:txBody>
      </p:sp>
      <p:sp>
        <p:nvSpPr>
          <p:cNvPr id="32" name="TextBox 31"/>
          <p:cNvSpPr txBox="1"/>
          <p:nvPr/>
        </p:nvSpPr>
        <p:spPr>
          <a:xfrm>
            <a:off x="4480560" y="4096512"/>
            <a:ext cx="3200400" cy="365760"/>
          </a:xfrm>
          <a:prstGeom prst="rect">
            <a:avLst/>
          </a:prstGeom>
          <a:noFill/>
        </p:spPr>
        <p:txBody>
          <a:bodyPr wrap="square">
            <a:spAutoFit/>
          </a:bodyPr>
          <a:lstStyle/>
          <a:p>
            <a:pPr algn="l"/>
            <a:r>
              <a:rPr sz="1400" b="0">
                <a:solidFill>
                  <a:srgbClr val="5D6D7E"/>
                </a:solidFill>
              </a:rPr>
              <a:t>FED (EFFR): 3,88%</a:t>
            </a:r>
          </a:p>
        </p:txBody>
      </p:sp>
      <p:sp>
        <p:nvSpPr>
          <p:cNvPr id="33" name="Rounded Rectangle 32"/>
          <p:cNvSpPr/>
          <p:nvPr/>
        </p:nvSpPr>
        <p:spPr>
          <a:xfrm>
            <a:off x="8092440" y="31089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92440" y="3218688"/>
            <a:ext cx="64008" cy="1243584"/>
          </a:xfrm>
          <a:prstGeom prst="rect">
            <a:avLst/>
          </a:prstGeom>
          <a:solidFill>
            <a:srgbClr val="16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3200400"/>
            <a:ext cx="3200400" cy="365760"/>
          </a:xfrm>
          <a:prstGeom prst="rect">
            <a:avLst/>
          </a:prstGeom>
          <a:noFill/>
        </p:spPr>
        <p:txBody>
          <a:bodyPr wrap="square">
            <a:spAutoFit/>
          </a:bodyPr>
          <a:lstStyle/>
          <a:p>
            <a:pPr algn="l"/>
            <a:r>
              <a:rPr sz="1300" b="1">
                <a:solidFill>
                  <a:srgbClr val="5D6D7E"/>
                </a:solidFill>
              </a:rPr>
              <a:t>FORWARD OFICIAL 3 MESES</a:t>
            </a:r>
          </a:p>
        </p:txBody>
      </p:sp>
      <p:sp>
        <p:nvSpPr>
          <p:cNvPr id="36" name="TextBox 35"/>
          <p:cNvSpPr txBox="1"/>
          <p:nvPr/>
        </p:nvSpPr>
        <p:spPr>
          <a:xfrm>
            <a:off x="8321040" y="3493008"/>
            <a:ext cx="3200400" cy="548640"/>
          </a:xfrm>
          <a:prstGeom prst="rect">
            <a:avLst/>
          </a:prstGeom>
          <a:noFill/>
        </p:spPr>
        <p:txBody>
          <a:bodyPr wrap="square">
            <a:spAutoFit/>
          </a:bodyPr>
          <a:lstStyle/>
          <a:p>
            <a:pPr algn="l"/>
            <a:r>
              <a:rPr sz="3200" b="1">
                <a:solidFill>
                  <a:srgbClr val="163A6B"/>
                </a:solidFill>
              </a:rPr>
              <a:t>$ 1.846,47</a:t>
            </a:r>
          </a:p>
        </p:txBody>
      </p:sp>
      <p:sp>
        <p:nvSpPr>
          <p:cNvPr id="37" name="TextBox 36"/>
          <p:cNvSpPr txBox="1"/>
          <p:nvPr/>
        </p:nvSpPr>
        <p:spPr>
          <a:xfrm>
            <a:off x="8321040" y="4096512"/>
            <a:ext cx="3200400" cy="365760"/>
          </a:xfrm>
          <a:prstGeom prst="rect">
            <a:avLst/>
          </a:prstGeom>
          <a:noFill/>
        </p:spPr>
        <p:txBody>
          <a:bodyPr wrap="square">
            <a:spAutoFit/>
          </a:bodyPr>
          <a:lstStyle/>
          <a:p>
            <a:pPr algn="l"/>
            <a:r>
              <a:rPr sz="1400" b="0">
                <a:solidFill>
                  <a:srgbClr val="5D6D7E"/>
                </a:solidFill>
              </a:rPr>
              <a:t>Forward blue: $ 1.870,53</a:t>
            </a:r>
          </a:p>
        </p:txBody>
      </p:sp>
      <p:sp>
        <p:nvSpPr>
          <p:cNvPr id="38" name="Rounded Rectangle 37"/>
          <p:cNvSpPr/>
          <p:nvPr/>
        </p:nvSpPr>
        <p:spPr>
          <a:xfrm>
            <a:off x="411480" y="4892040"/>
            <a:ext cx="11338560" cy="128016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4983480"/>
            <a:ext cx="10972800" cy="1097280"/>
          </a:xfrm>
          <a:prstGeom prst="rect">
            <a:avLst/>
          </a:prstGeom>
          <a:noFill/>
        </p:spPr>
        <p:txBody>
          <a:bodyPr wrap="square">
            <a:spAutoFit/>
          </a:bodyPr>
          <a:lstStyle/>
          <a:p>
            <a:pPr algn="l"/>
            <a:r>
              <a:rPr sz="1500" b="0">
                <a:solidFill>
                  <a:srgbClr val="5D6D7E"/>
                </a:solidFill>
              </a:rPr>
              <a:t>Comprar USD 100 al oficial con impuestos (solidario) sale $ 44.050,00 más caro que en el blue: el solidario está 28,33% por encima del blue.</a:t>
            </a:r>
          </a:p>
          <a:p>
            <a:pPr algn="l"/>
            <a:r>
              <a:rPr sz="1500" b="0">
                <a:solidFill>
                  <a:srgbClr val="5D6D7E"/>
                </a:solidFill>
              </a:rPr>
              <a:t>Verde: bajó contra la rueda anterior; rojo: subió. Desde la macro, que el dólar y el riesgo país bajen es la buena noticia.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Tipos de cambio</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3</a:t>
            </a:r>
          </a:p>
        </p:txBody>
      </p:sp>
      <p:sp>
        <p:nvSpPr>
          <p:cNvPr id="8" name="Rounded Rectangle 7"/>
          <p:cNvSpPr/>
          <p:nvPr/>
        </p:nvSpPr>
        <p:spPr>
          <a:xfrm>
            <a:off x="411480" y="1024128"/>
            <a:ext cx="11365992" cy="1143000"/>
          </a:xfrm>
          <a:prstGeom prst="roundRect">
            <a:avLst>
              <a:gd name="adj" fmla="val 4000"/>
            </a:avLst>
          </a:prstGeom>
          <a:solidFill>
            <a:srgbClr val="081E40"/>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097280"/>
            <a:ext cx="11045952" cy="1005840"/>
          </a:xfrm>
          <a:prstGeom prst="rect">
            <a:avLst/>
          </a:prstGeom>
          <a:noFill/>
        </p:spPr>
        <p:txBody>
          <a:bodyPr wrap="square" anchor="t">
            <a:spAutoFit/>
          </a:bodyPr>
          <a:lstStyle/>
          <a:p>
            <a:pPr>
              <a:spcAft>
                <a:spcPts val="400"/>
              </a:spcAft>
            </a:pPr>
            <a:r>
              <a:rPr sz="1300" b="1">
                <a:solidFill>
                  <a:srgbClr val="A8C3DB"/>
                </a:solidFill>
              </a:rPr>
              <a:t>🤖 ANÁLISIS IA DEL DÍA</a:t>
            </a:r>
          </a:p>
          <a:p>
            <a:pPr>
              <a:spcAft>
                <a:spcPts val="500"/>
              </a:spcAft>
            </a:pPr>
            <a:r>
              <a:rPr sz="1200">
                <a:solidFill>
                  <a:srgbClr val="ECF0F1"/>
                </a:solidFill>
              </a:rPr>
              <a:t>La brecha entre el Blue de $1555.0 y el MEP de $1536.04 cerró en 1.23%, siendo la opción más económica de las dos el MEP. En la tendencia de las últimas 25 ruedas, el Blue avanzó un 0.97% y el Billete un 0.33%, mientras que el Riesgo País acumuló un incremento de 132 puntos básicos.</a:t>
            </a:r>
          </a:p>
        </p:txBody>
      </p:sp>
      <p:sp>
        <p:nvSpPr>
          <p:cNvPr id="10" name="Rounded Rectangle 9"/>
          <p:cNvSpPr/>
          <p:nvPr/>
        </p:nvSpPr>
        <p:spPr>
          <a:xfrm>
            <a:off x="411480" y="2286000"/>
            <a:ext cx="5577840" cy="21488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ralelas.png"/>
          <p:cNvPicPr>
            <a:picLocks noChangeAspect="1"/>
          </p:cNvPicPr>
          <p:nvPr/>
        </p:nvPicPr>
        <p:blipFill>
          <a:blip r:embed="rId3"/>
          <a:stretch>
            <a:fillRect/>
          </a:stretch>
        </p:blipFill>
        <p:spPr>
          <a:xfrm>
            <a:off x="1068532" y="2395728"/>
            <a:ext cx="4263736" cy="1929384"/>
          </a:xfrm>
          <a:prstGeom prst="rect">
            <a:avLst/>
          </a:prstGeom>
        </p:spPr>
      </p:pic>
      <p:sp>
        <p:nvSpPr>
          <p:cNvPr id="12" name="Rounded Rectangle 11"/>
          <p:cNvSpPr/>
          <p:nvPr/>
        </p:nvSpPr>
        <p:spPr>
          <a:xfrm>
            <a:off x="411480" y="4526280"/>
            <a:ext cx="5577840" cy="18288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663440"/>
            <a:ext cx="5303520" cy="1554480"/>
          </a:xfrm>
          <a:prstGeom prst="rect">
            <a:avLst/>
          </a:prstGeom>
          <a:noFill/>
        </p:spPr>
        <p:txBody>
          <a:bodyPr wrap="square">
            <a:spAutoFit/>
          </a:bodyPr>
          <a:lstStyle/>
          <a:p>
            <a:pPr>
              <a:spcAft>
                <a:spcPts val="400"/>
              </a:spcAft>
            </a:pPr>
            <a:r>
              <a:rPr sz="1500" b="1">
                <a:solidFill>
                  <a:srgbClr val="163A6B"/>
                </a:solidFill>
              </a:rPr>
              <a:t>🤖 ANÁLISIS IA</a:t>
            </a:r>
          </a:p>
          <a:p>
            <a:pPr>
              <a:spcAft>
                <a:spcPts val="500"/>
              </a:spcAft>
            </a:pPr>
            <a:r>
              <a:rPr sz="1400">
                <a:solidFill>
                  <a:srgbClr val="163A6B"/>
                </a:solidFill>
              </a:rPr>
              <a:t>El Blue finalizó a $1555.0 tras una suba diaria del 0.65%, mientras el MEP operó con estabilidad en $1536.04. Por su parte, el Euro Blue cotiza a $1737.6 y el dólar Solidario se ubica en $1995.50, manteniendo una brecha del 28.33% respecto al informal.</a:t>
            </a:r>
          </a:p>
        </p:txBody>
      </p:sp>
      <p:sp>
        <p:nvSpPr>
          <p:cNvPr id="14" name="Rounded Rectangle 13"/>
          <p:cNvSpPr/>
          <p:nvPr/>
        </p:nvSpPr>
        <p:spPr>
          <a:xfrm>
            <a:off x="6199632" y="2286000"/>
            <a:ext cx="5577840" cy="21488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Oficiales.png"/>
          <p:cNvPicPr>
            <a:picLocks noChangeAspect="1"/>
          </p:cNvPicPr>
          <p:nvPr/>
        </p:nvPicPr>
        <p:blipFill>
          <a:blip r:embed="rId4"/>
          <a:stretch>
            <a:fillRect/>
          </a:stretch>
        </p:blipFill>
        <p:spPr>
          <a:xfrm>
            <a:off x="6856684" y="2395728"/>
            <a:ext cx="4263736" cy="1929384"/>
          </a:xfrm>
          <a:prstGeom prst="rect">
            <a:avLst/>
          </a:prstGeom>
        </p:spPr>
      </p:pic>
      <p:sp>
        <p:nvSpPr>
          <p:cNvPr id="16" name="Rounded Rectangle 15"/>
          <p:cNvSpPr/>
          <p:nvPr/>
        </p:nvSpPr>
        <p:spPr>
          <a:xfrm>
            <a:off x="6199632" y="4526280"/>
            <a:ext cx="5577840" cy="18288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4663440"/>
            <a:ext cx="5303520" cy="1554480"/>
          </a:xfrm>
          <a:prstGeom prst="rect">
            <a:avLst/>
          </a:prstGeom>
          <a:noFill/>
        </p:spPr>
        <p:txBody>
          <a:bodyPr wrap="square">
            <a:spAutoFit/>
          </a:bodyPr>
          <a:lstStyle/>
          <a:p>
            <a:pPr>
              <a:spcAft>
                <a:spcPts val="400"/>
              </a:spcAft>
            </a:pPr>
            <a:r>
              <a:rPr sz="1500" b="1">
                <a:solidFill>
                  <a:srgbClr val="163A6B"/>
                </a:solidFill>
              </a:rPr>
              <a:t>🤖 ANÁLISIS IA</a:t>
            </a:r>
          </a:p>
          <a:p>
            <a:pPr>
              <a:spcAft>
                <a:spcPts val="500"/>
              </a:spcAft>
            </a:pPr>
            <a:r>
              <a:rPr sz="1400">
                <a:solidFill>
                  <a:srgbClr val="163A6B"/>
                </a:solidFill>
              </a:rPr>
              <a:t>El billete BNA cerró en $1535.0 y la divisa mayorista en $1518.0, reflejando una diferencia de cotización del 1.12%. El forward oficial a tres meses proyectado por paridad de Fisher se sitúa en $1,846.47, lo que representa una prima del 20.29% sobre el spot.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Riesgo país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4</a:t>
            </a:r>
          </a:p>
        </p:txBody>
      </p:sp>
      <p:sp>
        <p:nvSpPr>
          <p:cNvPr id="8" name="Rounded Rectangle 7"/>
          <p:cNvSpPr/>
          <p:nvPr/>
        </p:nvSpPr>
        <p:spPr>
          <a:xfrm>
            <a:off x="411480" y="1143000"/>
            <a:ext cx="7589520" cy="51206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iesgo País.jpg"/>
          <p:cNvPicPr>
            <a:picLocks noChangeAspect="1"/>
          </p:cNvPicPr>
          <p:nvPr/>
        </p:nvPicPr>
        <p:blipFill>
          <a:blip r:embed="rId2"/>
          <a:stretch>
            <a:fillRect/>
          </a:stretch>
        </p:blipFill>
        <p:spPr>
          <a:xfrm>
            <a:off x="521208" y="1860804"/>
            <a:ext cx="7370064" cy="3685032"/>
          </a:xfrm>
          <a:prstGeom prst="rect">
            <a:avLst/>
          </a:prstGeom>
        </p:spPr>
      </p:pic>
      <p:sp>
        <p:nvSpPr>
          <p:cNvPr id="10" name="Rounded Rectangle 9"/>
          <p:cNvSpPr/>
          <p:nvPr/>
        </p:nvSpPr>
        <p:spPr>
          <a:xfrm>
            <a:off x="8229600" y="1097280"/>
            <a:ext cx="3611880" cy="52578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234440"/>
            <a:ext cx="3337560" cy="4983480"/>
          </a:xfrm>
          <a:prstGeom prst="rect">
            <a:avLst/>
          </a:prstGeom>
          <a:noFill/>
        </p:spPr>
        <p:txBody>
          <a:bodyPr wrap="square">
            <a:spAutoFit/>
          </a:bodyPr>
          <a:lstStyle/>
          <a:p>
            <a:pPr>
              <a:spcAft>
                <a:spcPts val="400"/>
              </a:spcAft>
            </a:pPr>
            <a:r>
              <a:rPr sz="1600" b="1">
                <a:solidFill>
                  <a:srgbClr val="163A6B"/>
                </a:solidFill>
              </a:rPr>
              <a:t>RESUMEN DEL DÍA</a:t>
            </a:r>
          </a:p>
          <a:p>
            <a:pPr>
              <a:spcAft>
                <a:spcPts val="500"/>
              </a:spcAft>
            </a:pPr>
            <a:r>
              <a:rPr sz="1500">
                <a:solidFill>
                  <a:srgbClr val="163A6B"/>
                </a:solidFill>
              </a:rPr>
              <a:t>622 puntos, +11 contra la rueda anterior. En las últimas 25 ruedas estuvo entre 490 y 655.</a:t>
            </a:r>
          </a:p>
          <a:p>
            <a:pPr>
              <a:spcAft>
                <a:spcPts val="500"/>
              </a:spcAft>
            </a:pPr>
            <a:r>
              <a:rPr sz="1500">
                <a:solidFill>
                  <a:srgbClr val="163A6B"/>
                </a:solidFill>
              </a:rPr>
              <a:t>Es lo que paga Argentina por encima de los bonos de Estados Unidos: cuanto más bajo, más barato le sale el crédito al país y a sus empresas.</a:t>
            </a:r>
          </a:p>
          <a:p>
            <a:pPr>
              <a:spcBef>
                <a:spcPts val="1200"/>
              </a:spcBef>
              <a:spcAft>
                <a:spcPts val="400"/>
              </a:spcAft>
            </a:pPr>
            <a:r>
              <a:rPr sz="1600" b="1">
                <a:solidFill>
                  <a:srgbClr val="163A6B"/>
                </a:solidFill>
              </a:rPr>
              <a:t>🤖 ANÁLISIS IA</a:t>
            </a:r>
          </a:p>
          <a:p>
            <a:pPr>
              <a:spcAft>
                <a:spcPts val="500"/>
              </a:spcAft>
            </a:pPr>
            <a:r>
              <a:rPr sz="1500">
                <a:solidFill>
                  <a:srgbClr val="163A6B"/>
                </a:solidFill>
              </a:rPr>
              <a:t>El Riesgo País subió 11 puntos básicos en el día, alcanzando un nivel de 622 puntos. En las últimas 25 ruedas, el indicador muestra un deterioro significativo al escalar desde los 490 puntos iniciales.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Inflación y variaciones acumuladas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5</a:t>
            </a:r>
          </a:p>
        </p:txBody>
      </p:sp>
      <p:sp>
        <p:nvSpPr>
          <p:cNvPr id="8" name="Rounded Rectangle 7"/>
          <p:cNvSpPr/>
          <p:nvPr/>
        </p:nvSpPr>
        <p:spPr>
          <a:xfrm>
            <a:off x="411480" y="1005840"/>
            <a:ext cx="5577840" cy="36576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ráficos Inflación.jpg"/>
          <p:cNvPicPr>
            <a:picLocks noChangeAspect="1"/>
          </p:cNvPicPr>
          <p:nvPr/>
        </p:nvPicPr>
        <p:blipFill>
          <a:blip r:embed="rId2"/>
          <a:stretch>
            <a:fillRect/>
          </a:stretch>
        </p:blipFill>
        <p:spPr>
          <a:xfrm>
            <a:off x="744583" y="1115568"/>
            <a:ext cx="4911634" cy="3438144"/>
          </a:xfrm>
          <a:prstGeom prst="rect">
            <a:avLst/>
          </a:prstGeom>
        </p:spPr>
      </p:pic>
      <p:sp>
        <p:nvSpPr>
          <p:cNvPr id="10" name="Rounded Rectangle 9"/>
          <p:cNvSpPr/>
          <p:nvPr/>
        </p:nvSpPr>
        <p:spPr>
          <a:xfrm>
            <a:off x="6199632" y="1005840"/>
            <a:ext cx="5577840" cy="36576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Variaciones.jpg"/>
          <p:cNvPicPr>
            <a:picLocks noChangeAspect="1"/>
          </p:cNvPicPr>
          <p:nvPr/>
        </p:nvPicPr>
        <p:blipFill>
          <a:blip r:embed="rId3"/>
          <a:stretch>
            <a:fillRect/>
          </a:stretch>
        </p:blipFill>
        <p:spPr>
          <a:xfrm>
            <a:off x="6309360" y="1495044"/>
            <a:ext cx="5358384" cy="2679192"/>
          </a:xfrm>
          <a:prstGeom prst="rect">
            <a:avLst/>
          </a:prstGeom>
        </p:spPr>
      </p:pic>
      <p:sp>
        <p:nvSpPr>
          <p:cNvPr id="12" name="Rounded Rectangle 11"/>
          <p:cNvSpPr/>
          <p:nvPr/>
        </p:nvSpPr>
        <p:spPr>
          <a:xfrm>
            <a:off x="411480" y="4754880"/>
            <a:ext cx="11365992" cy="16916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892040"/>
            <a:ext cx="11091672" cy="1417320"/>
          </a:xfrm>
          <a:prstGeom prst="rect">
            <a:avLst/>
          </a:prstGeom>
          <a:noFill/>
        </p:spPr>
        <p:txBody>
          <a:bodyPr wrap="square">
            <a:spAutoFit/>
          </a:bodyPr>
          <a:lstStyle/>
          <a:p>
            <a:pPr>
              <a:spcAft>
                <a:spcPts val="400"/>
              </a:spcAft>
            </a:pPr>
            <a:r>
              <a:rPr sz="1700" b="1">
                <a:solidFill>
                  <a:srgbClr val="163A6B"/>
                </a:solidFill>
              </a:rPr>
              <a:t>RESUMEN DEL DÍA</a:t>
            </a:r>
          </a:p>
          <a:p>
            <a:pPr>
              <a:spcAft>
                <a:spcPts val="500"/>
              </a:spcAft>
            </a:pPr>
            <a:r>
              <a:rPr sz="1600">
                <a:solidFill>
                  <a:srgbClr val="163A6B"/>
                </a:solidFill>
              </a:rPr>
              <a:t>La inflación de septiembre de 2026 fue 1,9% (agosto: 1,7%) y la de los últimos 12 meses, 33,3%.</a:t>
            </a:r>
          </a:p>
          <a:p>
            <a:pPr>
              <a:spcAft>
                <a:spcPts val="500"/>
              </a:spcAft>
            </a:pPr>
            <a:r>
              <a:rPr sz="1600">
                <a:solidFill>
                  <a:srgbClr val="163A6B"/>
                </a:solidFill>
              </a:rPr>
              <a:t>Desde julio de 2025, los precios subieron 41,3%, el dólar blue +28,0% y el solidario +26,3%: el dólar subió menos que los precios, así que en pesos de hoy está más barato.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Agregados monetarios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6</a:t>
            </a:r>
          </a:p>
        </p:txBody>
      </p:sp>
      <p:sp>
        <p:nvSpPr>
          <p:cNvPr id="8" name="Rounded Rectangle 7"/>
          <p:cNvSpPr/>
          <p:nvPr/>
        </p:nvSpPr>
        <p:spPr>
          <a:xfrm>
            <a:off x="411480" y="1005840"/>
            <a:ext cx="6126480" cy="539496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gregados Monetarios.jpg"/>
          <p:cNvPicPr>
            <a:picLocks noChangeAspect="1"/>
          </p:cNvPicPr>
          <p:nvPr/>
        </p:nvPicPr>
        <p:blipFill>
          <a:blip r:embed="rId2"/>
          <a:stretch>
            <a:fillRect/>
          </a:stretch>
        </p:blipFill>
        <p:spPr>
          <a:xfrm>
            <a:off x="886968" y="1115568"/>
            <a:ext cx="5175504" cy="5175504"/>
          </a:xfrm>
          <a:prstGeom prst="rect">
            <a:avLst/>
          </a:prstGeom>
        </p:spPr>
      </p:pic>
      <p:sp>
        <p:nvSpPr>
          <p:cNvPr id="10" name="Rounded Rectangle 9"/>
          <p:cNvSpPr/>
          <p:nvPr/>
        </p:nvSpPr>
        <p:spPr>
          <a:xfrm>
            <a:off x="6720840" y="1051560"/>
            <a:ext cx="5120640" cy="53492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188720"/>
            <a:ext cx="4846320" cy="5074920"/>
          </a:xfrm>
          <a:prstGeom prst="rect">
            <a:avLst/>
          </a:prstGeom>
          <a:noFill/>
        </p:spPr>
        <p:txBody>
          <a:bodyPr wrap="square">
            <a:spAutoFit/>
          </a:bodyPr>
          <a:lstStyle/>
          <a:p>
            <a:pPr>
              <a:spcAft>
                <a:spcPts val="400"/>
              </a:spcAft>
            </a:pPr>
            <a:r>
              <a:rPr sz="1700" b="1">
                <a:solidFill>
                  <a:srgbClr val="163A6B"/>
                </a:solidFill>
              </a:rPr>
              <a:t>RESUMEN DEL DÍA</a:t>
            </a:r>
          </a:p>
          <a:p>
            <a:pPr>
              <a:spcAft>
                <a:spcPts val="500"/>
              </a:spcAft>
            </a:pPr>
            <a:r>
              <a:rPr sz="1600">
                <a:solidFill>
                  <a:srgbClr val="163A6B"/>
                </a:solidFill>
              </a:rPr>
              <a:t>En el último año la base monetaria creció 16,4% (al 13/10/2026) y el M2 creció 18,0% (al 09/10/2026), contra una inflación interanual de 33,3% en septiembre de 2026: descontada la inflación, las dos cayeron.</a:t>
            </a:r>
          </a:p>
          <a:p>
            <a:pPr>
              <a:spcBef>
                <a:spcPts val="1200"/>
              </a:spcBef>
              <a:spcAft>
                <a:spcPts val="400"/>
              </a:spcAft>
            </a:pPr>
            <a:r>
              <a:rPr sz="1700" b="1">
                <a:solidFill>
                  <a:srgbClr val="163A6B"/>
                </a:solidFill>
              </a:rPr>
              <a:t>¿QUÉ SERÍA LO IDEAL?</a:t>
            </a:r>
          </a:p>
          <a:p>
            <a:pPr>
              <a:spcAft>
                <a:spcPts val="500"/>
              </a:spcAft>
            </a:pPr>
            <a:r>
              <a:rPr sz="1600">
                <a:solidFill>
                  <a:srgbClr val="163A6B"/>
                </a:solidFill>
              </a:rPr>
              <a:t>Que la cantidad de pesos crezca al ritmo de los que la gente quiere tener: más o menos lo que crece la economía más una inflación baja. Si crece mucho más rápido, hay más pesos persiguiendo las mismas cosas y eso suele anticipar más inflación y un dólar más caro. Si crece mucho más lento, la inflación tiende a bajar, pero hay menos plata para consumir y menos crédito, y la actividad se enfría.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Endeudamiento, en dólares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7</a:t>
            </a:r>
          </a:p>
        </p:txBody>
      </p:sp>
      <p:sp>
        <p:nvSpPr>
          <p:cNvPr id="8" name="Rounded Rectangle 7"/>
          <p:cNvSpPr/>
          <p:nvPr/>
        </p:nvSpPr>
        <p:spPr>
          <a:xfrm>
            <a:off x="411480" y="1005840"/>
            <a:ext cx="6126480" cy="539496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uda en Dólares.jpg"/>
          <p:cNvPicPr>
            <a:picLocks noChangeAspect="1"/>
          </p:cNvPicPr>
          <p:nvPr/>
        </p:nvPicPr>
        <p:blipFill>
          <a:blip r:embed="rId2"/>
          <a:stretch>
            <a:fillRect/>
          </a:stretch>
        </p:blipFill>
        <p:spPr>
          <a:xfrm>
            <a:off x="1318260" y="1115568"/>
            <a:ext cx="4312920" cy="5175504"/>
          </a:xfrm>
          <a:prstGeom prst="rect">
            <a:avLst/>
          </a:prstGeom>
        </p:spPr>
      </p:pic>
      <p:sp>
        <p:nvSpPr>
          <p:cNvPr id="10" name="Rounded Rectangle 9"/>
          <p:cNvSpPr/>
          <p:nvPr/>
        </p:nvSpPr>
        <p:spPr>
          <a:xfrm>
            <a:off x="6720840" y="1051560"/>
            <a:ext cx="5120640" cy="53492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188720"/>
            <a:ext cx="4846320" cy="5074920"/>
          </a:xfrm>
          <a:prstGeom prst="rect">
            <a:avLst/>
          </a:prstGeom>
          <a:noFill/>
        </p:spPr>
        <p:txBody>
          <a:bodyPr wrap="square">
            <a:spAutoFit/>
          </a:bodyPr>
          <a:lstStyle/>
          <a:p>
            <a:pPr>
              <a:spcAft>
                <a:spcPts val="400"/>
              </a:spcAft>
            </a:pPr>
            <a:r>
              <a:rPr sz="1400" b="1">
                <a:solidFill>
                  <a:srgbClr val="163A6B"/>
                </a:solidFill>
              </a:rPr>
              <a:t>RESUMEN DEL DÍA</a:t>
            </a:r>
          </a:p>
          <a:p>
            <a:pPr>
              <a:spcAft>
                <a:spcPts val="500"/>
              </a:spcAft>
            </a:pPr>
            <a:r>
              <a:rPr sz="1300">
                <a:solidFill>
                  <a:srgbClr val="163A6B"/>
                </a:solidFill>
              </a:rPr>
              <a:t>Deuda bruta del Tesoro a fines de septiembre de 2026 (dato provisorio): USD 486,6 mil millones, 32,6 mil millones más que un año antes. Contra la misma fecha: hace 4 años, USD 382,3 mil millones (hoy, +27,3%). Sin comparación a 8 y 12 años: la serie mensual de la Secretaría de Finanzas empieza en 2019.</a:t>
            </a:r>
          </a:p>
          <a:p>
            <a:pPr>
              <a:spcAft>
                <a:spcPts val="500"/>
              </a:spcAft>
            </a:pPr>
            <a:r>
              <a:rPr sz="1300">
                <a:solidFill>
                  <a:srgbClr val="163A6B"/>
                </a:solidFill>
              </a:rPr>
              <a:t>Lo que familias y empresas les deben a los bancos, al 13/10/2026: USD 96,8 mil millones. Contra la misma fecha: hace 4 años, USD 43,1 mil millones (hoy, +124,7%); hace 8 años, USD 58,9 mil millones (hoy, +64,5%); hace 12 años, USD 65,9 mil millones (hoy, +46,9%). Con cepo, el dólar oficial estaba muy por debajo del paralelo, así que en dólares esos años se ven más altos de lo que eran.</a:t>
            </a:r>
          </a:p>
          <a:p>
            <a:pPr>
              <a:spcBef>
                <a:spcPts val="1200"/>
              </a:spcBef>
              <a:spcAft>
                <a:spcPts val="400"/>
              </a:spcAft>
            </a:pPr>
            <a:r>
              <a:rPr sz="1400" b="1">
                <a:solidFill>
                  <a:srgbClr val="163A6B"/>
                </a:solidFill>
              </a:rPr>
              <a:t>¿QUÉ SERÍA LO IDEAL?</a:t>
            </a:r>
          </a:p>
          <a:p>
            <a:pPr>
              <a:spcAft>
                <a:spcPts val="500"/>
              </a:spcAft>
            </a:pPr>
            <a:r>
              <a:rPr sz="1300">
                <a:solidFill>
                  <a:srgbClr val="163A6B"/>
                </a:solidFill>
              </a:rPr>
              <a:t>Que la deuda del Estado crezca más despacio que la economía (o baje), que el crédito a familias y empresas crezca de forma sostenida, y que los adelantos al Tesoro no aumenten.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1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itcoin.png"/>
          <p:cNvPicPr>
            <a:picLocks noChangeAspect="1"/>
          </p:cNvPicPr>
          <p:nvPr/>
        </p:nvPicPr>
        <p:blipFill>
          <a:blip r:embed="rId2"/>
          <a:stretch>
            <a:fillRect/>
          </a:stretch>
        </p:blipFill>
        <p:spPr>
          <a:xfrm>
            <a:off x="411480" y="182880"/>
            <a:ext cx="457200" cy="457200"/>
          </a:xfrm>
          <a:prstGeom prst="rect">
            <a:avLst/>
          </a:prstGeom>
        </p:spPr>
      </p:pic>
      <p:sp>
        <p:nvSpPr>
          <p:cNvPr id="5" name="TextBox 4"/>
          <p:cNvSpPr txBox="1"/>
          <p:nvPr/>
        </p:nvSpPr>
        <p:spPr>
          <a:xfrm>
            <a:off x="960120" y="128016"/>
            <a:ext cx="8686800" cy="548640"/>
          </a:xfrm>
          <a:prstGeom prst="rect">
            <a:avLst/>
          </a:prstGeom>
          <a:noFill/>
        </p:spPr>
        <p:txBody>
          <a:bodyPr wrap="square">
            <a:spAutoFit/>
          </a:bodyPr>
          <a:lstStyle/>
          <a:p>
            <a:pPr algn="l"/>
            <a:r>
              <a:rPr sz="2600" b="1">
                <a:solidFill>
                  <a:srgbClr val="FFFFFF"/>
                </a:solidFill>
              </a:rPr>
              <a:t>Bitcoin</a:t>
            </a:r>
          </a:p>
        </p:txBody>
      </p:sp>
      <p:sp>
        <p:nvSpPr>
          <p:cNvPr id="6" name="TextBox 5"/>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7" name="TextBox 6"/>
          <p:cNvSpPr txBox="1"/>
          <p:nvPr/>
        </p:nvSpPr>
        <p:spPr>
          <a:xfrm>
            <a:off x="411480" y="6473952"/>
            <a:ext cx="8229600" cy="274320"/>
          </a:xfrm>
          <a:prstGeom prst="rect">
            <a:avLst/>
          </a:prstGeom>
          <a:noFill/>
        </p:spPr>
        <p:txBody>
          <a:bodyPr wrap="square">
            <a:spAutoFit/>
          </a:bodyPr>
          <a:lstStyle/>
          <a:p>
            <a:pPr algn="l"/>
            <a:r>
              <a:rPr sz="1000" b="0">
                <a:solidFill>
                  <a:srgbClr val="ECF0F1"/>
                </a:solidFill>
              </a:rPr>
              <a:t>Reporte Macroeconómico · Mauro E. Martinez · GlobalAIze</a:t>
            </a:r>
          </a:p>
        </p:txBody>
      </p:sp>
      <p:sp>
        <p:nvSpPr>
          <p:cNvPr id="8" name="TextBox 7"/>
          <p:cNvSpPr txBox="1"/>
          <p:nvPr/>
        </p:nvSpPr>
        <p:spPr>
          <a:xfrm>
            <a:off x="10881360" y="6473952"/>
            <a:ext cx="914400" cy="274320"/>
          </a:xfrm>
          <a:prstGeom prst="rect">
            <a:avLst/>
          </a:prstGeom>
          <a:noFill/>
        </p:spPr>
        <p:txBody>
          <a:bodyPr wrap="square">
            <a:spAutoFit/>
          </a:bodyPr>
          <a:lstStyle/>
          <a:p>
            <a:pPr algn="r"/>
            <a:r>
              <a:rPr sz="1000" b="0">
                <a:solidFill>
                  <a:srgbClr val="ECF0F1"/>
                </a:solidFill>
              </a:rPr>
              <a:t>8</a:t>
            </a:r>
          </a:p>
        </p:txBody>
      </p:sp>
      <p:sp>
        <p:nvSpPr>
          <p:cNvPr id="9" name="Rounded Rectangle 8"/>
          <p:cNvSpPr/>
          <p:nvPr/>
        </p:nvSpPr>
        <p:spPr>
          <a:xfrm>
            <a:off x="411480" y="1051560"/>
            <a:ext cx="7223760" cy="5303520"/>
          </a:xfrm>
          <a:prstGeom prst="roundRect">
            <a:avLst>
              <a:gd name="adj" fmla="val 4000"/>
            </a:avLst>
          </a:prstGeom>
          <a:solidFill>
            <a:srgbClr val="0B1B33"/>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ráfico BTC.jpg"/>
          <p:cNvPicPr>
            <a:picLocks noChangeAspect="1"/>
          </p:cNvPicPr>
          <p:nvPr/>
        </p:nvPicPr>
        <p:blipFill>
          <a:blip r:embed="rId3"/>
          <a:stretch>
            <a:fillRect/>
          </a:stretch>
        </p:blipFill>
        <p:spPr>
          <a:xfrm>
            <a:off x="521208" y="1528299"/>
            <a:ext cx="7004304" cy="4350041"/>
          </a:xfrm>
          <a:prstGeom prst="rect">
            <a:avLst/>
          </a:prstGeom>
        </p:spPr>
      </p:pic>
      <p:sp>
        <p:nvSpPr>
          <p:cNvPr id="11" name="Rounded Rectangle 10"/>
          <p:cNvSpPr/>
          <p:nvPr/>
        </p:nvSpPr>
        <p:spPr>
          <a:xfrm>
            <a:off x="7863840" y="1097280"/>
            <a:ext cx="3977639" cy="5257800"/>
          </a:xfrm>
          <a:prstGeom prst="roundRect">
            <a:avLst>
              <a:gd name="adj" fmla="val 4000"/>
            </a:avLst>
          </a:prstGeom>
          <a:solidFill>
            <a:srgbClr val="0B1B33"/>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1234440"/>
            <a:ext cx="3703319" cy="4983480"/>
          </a:xfrm>
          <a:prstGeom prst="rect">
            <a:avLst/>
          </a:prstGeom>
          <a:noFill/>
        </p:spPr>
        <p:txBody>
          <a:bodyPr wrap="square">
            <a:spAutoFit/>
          </a:bodyPr>
          <a:lstStyle/>
          <a:p>
            <a:pPr>
              <a:spcAft>
                <a:spcPts val="400"/>
              </a:spcAft>
            </a:pPr>
            <a:r>
              <a:rPr sz="1700" b="1">
                <a:solidFill>
                  <a:srgbClr val="A8C3DB"/>
                </a:solidFill>
              </a:rPr>
              <a:t>RESUMEN DEL DÍA</a:t>
            </a:r>
          </a:p>
          <a:p>
            <a:pPr>
              <a:spcAft>
                <a:spcPts val="500"/>
              </a:spcAft>
            </a:pPr>
            <a:r>
              <a:rPr sz="1600">
                <a:solidFill>
                  <a:srgbClr val="ECF0F1"/>
                </a:solidFill>
              </a:rPr>
              <a:t>Bitcoin cerró en USD 81.277 el 16/10/2026: en 7 días -1,5%, en 30 días +6,7%, en el último año -23,7%.</a:t>
            </a:r>
          </a:p>
          <a:p>
            <a:pPr>
              <a:spcAft>
                <a:spcPts val="500"/>
              </a:spcAft>
            </a:pPr>
            <a:r>
              <a:rPr sz="1600">
                <a:solidFill>
                  <a:srgbClr val="ECF0F1"/>
                </a:solidFill>
              </a:rPr>
              <a:t>Volatilidad diaria de las últimas 20 ruedas: 1,3%.</a:t>
            </a:r>
          </a:p>
          <a:p>
            <a:pPr>
              <a:spcBef>
                <a:spcPts val="1200"/>
              </a:spcBef>
              <a:spcAft>
                <a:spcPts val="400"/>
              </a:spcAft>
            </a:pPr>
            <a:r>
              <a:rPr sz="1700" b="1">
                <a:solidFill>
                  <a:srgbClr val="A8C3DB"/>
                </a:solidFill>
              </a:rPr>
              <a:t>🤖 ANÁLISIS IA</a:t>
            </a:r>
          </a:p>
          <a:p>
            <a:pPr>
              <a:spcAft>
                <a:spcPts val="500"/>
              </a:spcAft>
            </a:pPr>
            <a:r>
              <a:rPr sz="1600">
                <a:solidFill>
                  <a:srgbClr val="ECF0F1"/>
                </a:solidFill>
              </a:rPr>
              <a:t>Bitcoin cerró en USD 81,277, operando con una volatilidad de 1.34% en los últimos 20 días. La media móvil de 7 días se ubicó en USD 82,347, cruzando hacia abajo la media de 30 días tras un retroceso semanal del 1.54%.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Fuentes y contacto</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16/10/2026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9</a:t>
            </a:r>
          </a:p>
        </p:txBody>
      </p:sp>
      <p:sp>
        <p:nvSpPr>
          <p:cNvPr id="8" name="Rounded Rectangle 7"/>
          <p:cNvSpPr/>
          <p:nvPr/>
        </p:nvSpPr>
        <p:spPr>
          <a:xfrm>
            <a:off x="320040" y="1005840"/>
            <a:ext cx="7178040" cy="507492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43000"/>
            <a:ext cx="6858000" cy="365760"/>
          </a:xfrm>
          <a:prstGeom prst="rect">
            <a:avLst/>
          </a:prstGeom>
          <a:noFill/>
        </p:spPr>
        <p:txBody>
          <a:bodyPr wrap="square">
            <a:spAutoFit/>
          </a:bodyPr>
          <a:lstStyle/>
          <a:p>
            <a:pPr algn="l"/>
            <a:r>
              <a:rPr sz="1400" b="1">
                <a:solidFill>
                  <a:srgbClr val="163A6B"/>
                </a:solidFill>
              </a:rPr>
              <a:t>FUENTES CONSULTADAS</a:t>
            </a:r>
          </a:p>
        </p:txBody>
      </p:sp>
      <p:sp>
        <p:nvSpPr>
          <p:cNvPr id="10" name="TextBox 9"/>
          <p:cNvSpPr txBox="1"/>
          <p:nvPr/>
        </p:nvSpPr>
        <p:spPr>
          <a:xfrm>
            <a:off x="502920" y="1554480"/>
            <a:ext cx="6858000" cy="4480560"/>
          </a:xfrm>
          <a:prstGeom prst="rect">
            <a:avLst/>
          </a:prstGeom>
          <a:noFill/>
        </p:spPr>
        <p:txBody>
          <a:bodyPr wrap="square">
            <a:spAutoFit/>
          </a:bodyPr>
          <a:lstStyle/>
          <a:p>
            <a:pPr>
              <a:spcAft>
                <a:spcPts val="900"/>
              </a:spcAft>
            </a:pPr>
            <a:r>
              <a:rPr sz="1500" b="1">
                <a:solidFill>
                  <a:srgbClr val="163A6B"/>
                </a:solidFill>
              </a:rPr>
              <a:t>Cotizaciones oficiales: </a:t>
            </a:r>
            <a:r>
              <a:rPr sz="1400">
                <a:solidFill>
                  <a:srgbClr val="2980B9"/>
                </a:solidFill>
                <a:hlinkClick r:id="rId2"/>
              </a:rPr>
              <a:t>https://www.bna.com.ar/Personas</a:t>
            </a:r>
          </a:p>
          <a:p>
            <a:pPr>
              <a:spcAft>
                <a:spcPts val="900"/>
              </a:spcAft>
            </a:pPr>
            <a:r>
              <a:rPr sz="1500" b="1">
                <a:solidFill>
                  <a:srgbClr val="163A6B"/>
                </a:solidFill>
              </a:rPr>
              <a:t>Cotizaciones paralelas: </a:t>
            </a:r>
            <a:r>
              <a:rPr sz="1400">
                <a:solidFill>
                  <a:srgbClr val="2980B9"/>
                </a:solidFill>
                <a:hlinkClick r:id="rId3"/>
              </a:rPr>
              <a:t>https://dolarhoy.com/cotizaciondolarblue</a:t>
            </a:r>
          </a:p>
          <a:p>
            <a:pPr>
              <a:spcAft>
                <a:spcPts val="900"/>
              </a:spcAft>
            </a:pPr>
            <a:r>
              <a:rPr sz="1500" b="1">
                <a:solidFill>
                  <a:srgbClr val="163A6B"/>
                </a:solidFill>
              </a:rPr>
              <a:t>Dólar MEP: </a:t>
            </a:r>
            <a:r>
              <a:rPr sz="1400">
                <a:solidFill>
                  <a:srgbClr val="2980B9"/>
                </a:solidFill>
                <a:hlinkClick r:id="rId4"/>
              </a:rPr>
              <a:t>https://www.ambito.com/contenidos/dolar-mep.html</a:t>
            </a:r>
          </a:p>
          <a:p>
            <a:pPr>
              <a:spcAft>
                <a:spcPts val="900"/>
              </a:spcAft>
            </a:pPr>
            <a:r>
              <a:rPr sz="1500" b="1">
                <a:solidFill>
                  <a:srgbClr val="163A6B"/>
                </a:solidFill>
              </a:rPr>
              <a:t>Euro blue: </a:t>
            </a:r>
            <a:r>
              <a:rPr sz="1400">
                <a:solidFill>
                  <a:srgbClr val="2980B9"/>
                </a:solidFill>
                <a:hlinkClick r:id="rId5"/>
              </a:rPr>
              <a:t>https://www.ambito.com/euro-informal</a:t>
            </a:r>
          </a:p>
          <a:p>
            <a:pPr>
              <a:spcAft>
                <a:spcPts val="900"/>
              </a:spcAft>
            </a:pPr>
            <a:r>
              <a:rPr sz="1500" b="1">
                <a:solidFill>
                  <a:srgbClr val="163A6B"/>
                </a:solidFill>
              </a:rPr>
              <a:t>Riesgo país y feriados: </a:t>
            </a:r>
            <a:r>
              <a:rPr sz="1400">
                <a:solidFill>
                  <a:srgbClr val="2980B9"/>
                </a:solidFill>
                <a:hlinkClick r:id="rId6"/>
              </a:rPr>
              <a:t>https://api.argentinadatos.com/v1/finanzas/indices/riesgo-pais</a:t>
            </a:r>
          </a:p>
          <a:p>
            <a:pPr>
              <a:spcAft>
                <a:spcPts val="900"/>
              </a:spcAft>
            </a:pPr>
            <a:r>
              <a:rPr sz="1500" b="1">
                <a:solidFill>
                  <a:srgbClr val="163A6B"/>
                </a:solidFill>
              </a:rPr>
              <a:t>Tasa de la FED (EFFR): </a:t>
            </a:r>
            <a:r>
              <a:rPr sz="1400">
                <a:solidFill>
                  <a:srgbClr val="2980B9"/>
                </a:solidFill>
                <a:hlinkClick r:id="rId7"/>
              </a:rPr>
              <a:t>https://api.stlouisfed.org/fred/series/observations</a:t>
            </a:r>
          </a:p>
          <a:p>
            <a:pPr>
              <a:spcAft>
                <a:spcPts val="900"/>
              </a:spcAft>
            </a:pPr>
            <a:r>
              <a:rPr sz="1500" b="1">
                <a:solidFill>
                  <a:srgbClr val="163A6B"/>
                </a:solidFill>
              </a:rPr>
              <a:t>BCRA: tasas, inflación, agregados, deuda y dólar mayorista: </a:t>
            </a:r>
            <a:r>
              <a:rPr sz="1400">
                <a:solidFill>
                  <a:srgbClr val="2980B9"/>
                </a:solidFill>
                <a:hlinkClick r:id="rId8"/>
              </a:rPr>
              <a:t>https://api.bcra.gob.ar/estadisticas/v4.0/Monetarias</a:t>
            </a:r>
          </a:p>
          <a:p>
            <a:pPr>
              <a:spcAft>
                <a:spcPts val="900"/>
              </a:spcAft>
            </a:pPr>
            <a:r>
              <a:rPr sz="1500" b="1">
                <a:solidFill>
                  <a:srgbClr val="163A6B"/>
                </a:solidFill>
              </a:rPr>
              <a:t>Deuda bruta del Tesoro (Secretaría de Finanzas): </a:t>
            </a:r>
            <a:r>
              <a:rPr sz="1400">
                <a:solidFill>
                  <a:srgbClr val="2980B9"/>
                </a:solidFill>
                <a:hlinkClick r:id="rId9"/>
              </a:rPr>
              <a:t>https://www.argentina.gob.ar/economia/finanzas/datos-mensuales-de-la-deuda/datos</a:t>
            </a:r>
          </a:p>
          <a:p>
            <a:pPr>
              <a:spcAft>
                <a:spcPts val="900"/>
              </a:spcAft>
            </a:pPr>
            <a:r>
              <a:rPr sz="1500" b="1">
                <a:solidFill>
                  <a:srgbClr val="163A6B"/>
                </a:solidFill>
              </a:rPr>
              <a:t>Bitcoin (Yahoo Finance): </a:t>
            </a:r>
            <a:r>
              <a:rPr sz="1400">
                <a:solidFill>
                  <a:srgbClr val="2980B9"/>
                </a:solidFill>
                <a:hlinkClick r:id="rId10"/>
              </a:rPr>
              <a:t>https://finance.yahoo.com/quote/BTC-USD</a:t>
            </a:r>
          </a:p>
        </p:txBody>
      </p:sp>
      <p:sp>
        <p:nvSpPr>
          <p:cNvPr id="11" name="Rounded Rectangle 10"/>
          <p:cNvSpPr/>
          <p:nvPr/>
        </p:nvSpPr>
        <p:spPr>
          <a:xfrm>
            <a:off x="7726679" y="1005840"/>
            <a:ext cx="4050791" cy="5074920"/>
          </a:xfrm>
          <a:prstGeom prst="roundRect">
            <a:avLst>
              <a:gd name="adj" fmla="val 4000"/>
            </a:avLst>
          </a:prstGeom>
          <a:solidFill>
            <a:srgbClr val="081E40"/>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1280160"/>
            <a:ext cx="3657600" cy="365760"/>
          </a:xfrm>
          <a:prstGeom prst="rect">
            <a:avLst/>
          </a:prstGeom>
          <a:noFill/>
        </p:spPr>
        <p:txBody>
          <a:bodyPr wrap="square">
            <a:spAutoFit/>
          </a:bodyPr>
          <a:lstStyle/>
          <a:p>
            <a:pPr algn="l"/>
            <a:r>
              <a:rPr sz="1400" b="1">
                <a:solidFill>
                  <a:srgbClr val="A8C3DB"/>
                </a:solidFill>
              </a:rPr>
              <a:t>CONTACTO</a:t>
            </a:r>
          </a:p>
        </p:txBody>
      </p:sp>
      <p:sp>
        <p:nvSpPr>
          <p:cNvPr id="13" name="TextBox 12"/>
          <p:cNvSpPr txBox="1"/>
          <p:nvPr/>
        </p:nvSpPr>
        <p:spPr>
          <a:xfrm>
            <a:off x="8001000" y="1691640"/>
            <a:ext cx="3657600" cy="822960"/>
          </a:xfrm>
          <a:prstGeom prst="rect">
            <a:avLst/>
          </a:prstGeom>
          <a:noFill/>
        </p:spPr>
        <p:txBody>
          <a:bodyPr wrap="square">
            <a:spAutoFit/>
          </a:bodyPr>
          <a:lstStyle/>
          <a:p>
            <a:pPr algn="l"/>
            <a:r>
              <a:rPr sz="1400" b="0">
                <a:solidFill>
                  <a:srgbClr val="ECF0F1"/>
                </a:solidFill>
              </a:rPr>
              <a:t>Reporte hecho íntegramente en Python por Mauro E. Martinez, de GlobalAIze (sitio en construcción).</a:t>
            </a:r>
          </a:p>
        </p:txBody>
      </p:sp>
      <p:pic>
        <p:nvPicPr>
          <p:cNvPr id="14" name="Picture 13" descr="linkedin.png">
            <a:hlinkClick r:id="rId12"/>
          </p:cNvPr>
          <p:cNvPicPr>
            <a:picLocks noChangeAspect="1"/>
          </p:cNvPicPr>
          <p:nvPr/>
        </p:nvPicPr>
        <p:blipFill>
          <a:blip r:embed="rId11"/>
          <a:stretch>
            <a:fillRect/>
          </a:stretch>
        </p:blipFill>
        <p:spPr>
          <a:xfrm>
            <a:off x="8151876" y="2743200"/>
            <a:ext cx="457200" cy="457200"/>
          </a:xfrm>
          <a:prstGeom prst="rect">
            <a:avLst/>
          </a:prstGeom>
        </p:spPr>
      </p:pic>
      <p:sp>
        <p:nvSpPr>
          <p:cNvPr id="15" name="TextBox 14">
            <a:hlinkClick r:id="rId12"/>
          </p:cNvPr>
          <p:cNvSpPr txBox="1"/>
          <p:nvPr/>
        </p:nvSpPr>
        <p:spPr>
          <a:xfrm>
            <a:off x="7909560" y="3227832"/>
            <a:ext cx="941832" cy="457200"/>
          </a:xfrm>
          <a:prstGeom prst="rect">
            <a:avLst/>
          </a:prstGeom>
          <a:noFill/>
        </p:spPr>
        <p:txBody>
          <a:bodyPr wrap="square">
            <a:spAutoFit/>
          </a:bodyPr>
          <a:lstStyle/>
          <a:p>
            <a:pPr algn="ctr"/>
            <a:r>
              <a:rPr sz="1100" b="0">
                <a:solidFill>
                  <a:srgbClr val="ECF0F1"/>
                </a:solidFill>
              </a:rPr>
              <a:t>LinkedIn</a:t>
            </a:r>
          </a:p>
        </p:txBody>
      </p:sp>
      <p:pic>
        <p:nvPicPr>
          <p:cNvPr id="16" name="Picture 15" descr="github.png">
            <a:hlinkClick r:id="rId14"/>
          </p:cNvPr>
          <p:cNvPicPr>
            <a:picLocks noChangeAspect="1"/>
          </p:cNvPicPr>
          <p:nvPr/>
        </p:nvPicPr>
        <p:blipFill>
          <a:blip r:embed="rId13"/>
          <a:stretch>
            <a:fillRect/>
          </a:stretch>
        </p:blipFill>
        <p:spPr>
          <a:xfrm>
            <a:off x="9093708" y="2743200"/>
            <a:ext cx="457200" cy="457200"/>
          </a:xfrm>
          <a:prstGeom prst="rect">
            <a:avLst/>
          </a:prstGeom>
        </p:spPr>
      </p:pic>
      <p:sp>
        <p:nvSpPr>
          <p:cNvPr id="17" name="TextBox 16">
            <a:hlinkClick r:id="rId14"/>
          </p:cNvPr>
          <p:cNvSpPr txBox="1"/>
          <p:nvPr/>
        </p:nvSpPr>
        <p:spPr>
          <a:xfrm>
            <a:off x="8851392" y="3227832"/>
            <a:ext cx="941832" cy="457200"/>
          </a:xfrm>
          <a:prstGeom prst="rect">
            <a:avLst/>
          </a:prstGeom>
          <a:noFill/>
        </p:spPr>
        <p:txBody>
          <a:bodyPr wrap="square">
            <a:spAutoFit/>
          </a:bodyPr>
          <a:lstStyle/>
          <a:p>
            <a:pPr algn="ctr"/>
            <a:r>
              <a:rPr sz="1100" b="0">
                <a:solidFill>
                  <a:srgbClr val="ECF0F1"/>
                </a:solidFill>
              </a:rPr>
              <a:t>GitHub</a:t>
            </a:r>
          </a:p>
        </p:txBody>
      </p:sp>
      <p:pic>
        <p:nvPicPr>
          <p:cNvPr id="18" name="Picture 17" descr="globalaize_logo_redondeado.png">
            <a:hlinkClick r:id="rId16"/>
          </p:cNvPr>
          <p:cNvPicPr>
            <a:picLocks noChangeAspect="1"/>
          </p:cNvPicPr>
          <p:nvPr/>
        </p:nvPicPr>
        <p:blipFill>
          <a:blip r:embed="rId15"/>
          <a:stretch>
            <a:fillRect/>
          </a:stretch>
        </p:blipFill>
        <p:spPr>
          <a:xfrm>
            <a:off x="10035540" y="2743200"/>
            <a:ext cx="457200" cy="457200"/>
          </a:xfrm>
          <a:prstGeom prst="rect">
            <a:avLst/>
          </a:prstGeom>
        </p:spPr>
      </p:pic>
      <p:sp>
        <p:nvSpPr>
          <p:cNvPr id="19" name="TextBox 18">
            <a:hlinkClick r:id="rId16"/>
          </p:cNvPr>
          <p:cNvSpPr txBox="1"/>
          <p:nvPr/>
        </p:nvSpPr>
        <p:spPr>
          <a:xfrm>
            <a:off x="9793224" y="3227832"/>
            <a:ext cx="941832" cy="457200"/>
          </a:xfrm>
          <a:prstGeom prst="rect">
            <a:avLst/>
          </a:prstGeom>
          <a:noFill/>
        </p:spPr>
        <p:txBody>
          <a:bodyPr wrap="square">
            <a:spAutoFit/>
          </a:bodyPr>
          <a:lstStyle/>
          <a:p>
            <a:pPr algn="ctr"/>
            <a:r>
              <a:rPr sz="1100" b="0">
                <a:solidFill>
                  <a:srgbClr val="ECF0F1"/>
                </a:solidFill>
              </a:rPr>
              <a:t>GlobalAIze</a:t>
            </a:r>
          </a:p>
        </p:txBody>
      </p:sp>
      <p:pic>
        <p:nvPicPr>
          <p:cNvPr id="20" name="Picture 19" descr="linkedin.png">
            <a:hlinkClick r:id="rId17"/>
          </p:cNvPr>
          <p:cNvPicPr>
            <a:picLocks noChangeAspect="1"/>
          </p:cNvPicPr>
          <p:nvPr/>
        </p:nvPicPr>
        <p:blipFill>
          <a:blip r:embed="rId11"/>
          <a:stretch>
            <a:fillRect/>
          </a:stretch>
        </p:blipFill>
        <p:spPr>
          <a:xfrm>
            <a:off x="10977372" y="2743200"/>
            <a:ext cx="457200" cy="457200"/>
          </a:xfrm>
          <a:prstGeom prst="rect">
            <a:avLst/>
          </a:prstGeom>
        </p:spPr>
      </p:pic>
      <p:sp>
        <p:nvSpPr>
          <p:cNvPr id="21" name="TextBox 20">
            <a:hlinkClick r:id="rId17"/>
          </p:cNvPr>
          <p:cNvSpPr txBox="1"/>
          <p:nvPr/>
        </p:nvSpPr>
        <p:spPr>
          <a:xfrm>
            <a:off x="10735056" y="3227832"/>
            <a:ext cx="941832" cy="457200"/>
          </a:xfrm>
          <a:prstGeom prst="rect">
            <a:avLst/>
          </a:prstGeom>
          <a:noFill/>
        </p:spPr>
        <p:txBody>
          <a:bodyPr wrap="square">
            <a:spAutoFit/>
          </a:bodyPr>
          <a:lstStyle/>
          <a:p>
            <a:pPr algn="ctr"/>
            <a:r>
              <a:rPr sz="1100" b="0">
                <a:solidFill>
                  <a:srgbClr val="ECF0F1"/>
                </a:solidFill>
              </a:rPr>
              <a:t>GlobalAIze en LinkedIn</a:t>
            </a:r>
          </a:p>
        </p:txBody>
      </p:sp>
      <p:sp>
        <p:nvSpPr>
          <p:cNvPr id="22" name="TextBox 21"/>
          <p:cNvSpPr txBox="1"/>
          <p:nvPr/>
        </p:nvSpPr>
        <p:spPr>
          <a:xfrm>
            <a:off x="8001000" y="4069080"/>
            <a:ext cx="3657600" cy="731520"/>
          </a:xfrm>
          <a:prstGeom prst="rect">
            <a:avLst/>
          </a:prstGeom>
          <a:noFill/>
        </p:spPr>
        <p:txBody>
          <a:bodyPr wrap="square">
            <a:spAutoFit/>
          </a:bodyPr>
          <a:lstStyle/>
          <a:p>
            <a:pPr algn="l"/>
            <a:r>
              <a:rPr sz="1500" b="1">
                <a:solidFill>
                  <a:srgbClr val="FFFFFF"/>
                </a:solidFill>
              </a:rPr>
              <a:t>☕ ¿Te sirvió el reporte? Podés apoyar el proyecto al alias mauroemartinezmp</a:t>
            </a:r>
          </a:p>
        </p:txBody>
      </p:sp>
      <p:sp>
        <p:nvSpPr>
          <p:cNvPr id="23" name="TextBox 22">
            <a:hlinkClick r:id="rId18"/>
          </p:cNvPr>
          <p:cNvSpPr txBox="1"/>
          <p:nvPr/>
        </p:nvSpPr>
        <p:spPr>
          <a:xfrm>
            <a:off x="8001000" y="4937760"/>
            <a:ext cx="3657600" cy="822960"/>
          </a:xfrm>
          <a:prstGeom prst="rect">
            <a:avLst/>
          </a:prstGeom>
          <a:noFill/>
        </p:spPr>
        <p:txBody>
          <a:bodyPr wrap="square">
            <a:spAutoFit/>
          </a:bodyPr>
          <a:lstStyle/>
          <a:p>
            <a:pPr algn="l"/>
            <a:r>
              <a:rPr sz="1400" b="0">
                <a:solidFill>
                  <a:srgbClr val="ECF0F1"/>
                </a:solidFill>
              </a:rPr>
              <a:t>📧 Consultas, desuscripciones o propuestas:</a:t>
            </a:r>
          </a:p>
          <a:p>
            <a:pPr algn="l"/>
            <a:r>
              <a:rPr sz="1400" b="0">
                <a:solidFill>
                  <a:srgbClr val="ECF0F1"/>
                </a:solidFill>
              </a:rPr>
              <a:t>mauro@globalaize.com</a:t>
            </a:r>
          </a:p>
        </p:txBody>
      </p:sp>
      <p:sp>
        <p:nvSpPr>
          <p:cNvPr id="24" name="TextBox 23"/>
          <p:cNvSpPr txBox="1"/>
          <p:nvPr/>
        </p:nvSpPr>
        <p:spPr>
          <a:xfrm>
            <a:off x="0" y="6144768"/>
            <a:ext cx="12191695" cy="320040"/>
          </a:xfrm>
          <a:prstGeom prst="rect">
            <a:avLst/>
          </a:prstGeom>
          <a:noFill/>
        </p:spPr>
        <p:txBody>
          <a:bodyPr wrap="square">
            <a:spAutoFit/>
          </a:bodyPr>
          <a:lstStyle/>
          <a:p>
            <a:pPr algn="ctr"/>
            <a:r>
              <a:rPr sz="1000" b="0">
                <a:solidFill>
                  <a:srgbClr val="5D6D7E"/>
                </a:solidFill>
              </a:rPr>
              <a:t>Análisis generado con Gemini a partir de los datos del día. No es asesoramiento financiero.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F4E79"/>
      </a:hlink>
      <a:folHlink>
        <a:srgbClr val="081E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Seguimiento Macroeconómico</Application>
  <PresentationFormat>16:9</PresentationFormat>
  <Slides>9</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Reporte Macroeconómico 16/10/2026</dc:title>
  <dc:subject/>
  <dc:creator>Seguimiento Macroeconómico</dc:creator>
  <cp:keywords/>
  <dc:description/>
  <cp:lastModifiedBy>Seguimiento Macroeconómico</cp:lastModifiedBy>
  <cp:revision>1</cp:revision>
  <dcterms:created xsi:type="dcterms:W3CDTF">2026-10-16T19:14:56Z</dcterms:created>
  <dcterms:modified xsi:type="dcterms:W3CDTF">2026-10-16T19:14:56Z</dcterms:modified>
  <cp:category/>
</cp:coreProperties>
</file>